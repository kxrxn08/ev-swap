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3B38"/>
                </a:solidFill>
                <a:latin typeface="Arial"/>
              </a:defRPr>
            </a:pPr>
            <a:r>
              <a:rPr lang="en-US" sz="1200" b="0" i="0" u="none" strike="noStrike">
                <a:solidFill>
                  <a:srgbClr val="0E3B38"/>
                </a:solidFill>
                <a:latin typeface="Arial"/>
              </a:rPr>
              <a:t>Monthly running cost at 2,800 km</a:t>
            </a:r>
          </a:p>
        </c:rich>
      </c:tx>
      <c:overlay val="0"/>
    </c:title>
    <c:autoTitleDeleted val="0"/>
    <c:plotArea>
      <c:layout/>
      <c:barChart>
        <c:barDir val="col"/>
        <c:grouping val="clustered"/>
        <c:varyColors val="0"/>
        <c:ser>
          <c:idx val="0"/>
          <c:order val="0"/>
          <c:tx>
            <c:strRef>
              <c:f>Sheet1!$B$1</c:f>
              <c:strCache>
                <c:ptCount val="1"/>
                <c:pt idx="0">
                  <c:v>Rupees per month</c:v>
                </c:pt>
              </c:strCache>
            </c:strRef>
          </c:tx>
          <c:spPr>
            <a:solidFill>
              <a:srgbClr val="8FA5A1"/>
            </a:solidFill>
            <a:effectLst/>
          </c:spPr>
          <c:invertIfNegative val="0"/>
          <c:dPt>
            <c:idx val="0"/>
            <c:invertIfNegative val="0"/>
            <c:bubble3D val="0"/>
            <c:extLst>
              <c:ext xmlns:c16="http://schemas.microsoft.com/office/drawing/2014/chart" uri="{C3380CC4-5D6E-409C-BE32-E72D297353CC}">
                <c16:uniqueId val="{00000001-B757-4482-B730-69896ED585B0}"/>
              </c:ext>
            </c:extLst>
          </c:dPt>
          <c:dPt>
            <c:idx val="1"/>
            <c:invertIfNegative val="0"/>
            <c:bubble3D val="0"/>
            <c:extLst>
              <c:ext xmlns:c16="http://schemas.microsoft.com/office/drawing/2014/chart" uri="{C3380CC4-5D6E-409C-BE32-E72D297353CC}">
                <c16:uniqueId val="{00000003-B757-4482-B730-69896ED585B0}"/>
              </c:ext>
            </c:extLst>
          </c:dPt>
          <c:dPt>
            <c:idx val="2"/>
            <c:invertIfNegative val="0"/>
            <c:bubble3D val="0"/>
            <c:extLst>
              <c:ext xmlns:c16="http://schemas.microsoft.com/office/drawing/2014/chart" uri="{C3380CC4-5D6E-409C-BE32-E72D297353CC}">
                <c16:uniqueId val="{00000005-B757-4482-B730-69896ED585B0}"/>
              </c:ext>
            </c:extLst>
          </c:dPt>
          <c:dPt>
            <c:idx val="3"/>
            <c:invertIfNegative val="0"/>
            <c:bubble3D val="0"/>
            <c:spPr>
              <a:solidFill>
                <a:srgbClr val="E08A00"/>
              </a:solidFill>
              <a:effectLst/>
            </c:spPr>
            <c:extLst>
              <c:ext xmlns:c16="http://schemas.microsoft.com/office/drawing/2014/chart" uri="{C3380CC4-5D6E-409C-BE32-E72D297353CC}">
                <c16:uniqueId val="{00000007-B757-4482-B730-69896ED585B0}"/>
              </c:ext>
            </c:extLst>
          </c:dPt>
          <c:dLbls>
            <c:numFmt formatCode="&quot;Rs &quot;#,##0" sourceLinked="0"/>
            <c:spPr>
              <a:noFill/>
              <a:ln>
                <a:noFill/>
              </a:ln>
              <a:effectLst/>
            </c:spPr>
            <c:txPr>
              <a:bodyPr/>
              <a:lstStyle/>
              <a:p>
                <a:pPr>
                  <a:defRPr sz="1000" b="0" i="0" u="none" strike="noStrike">
                    <a:solidFill>
                      <a:srgbClr val="0E3B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Petrol bike</c:v>
                </c:pt>
                <c:pt idx="1">
                  <c:v>CNG auto</c:v>
                </c:pt>
                <c:pt idx="2">
                  <c:v>Rental EV</c:v>
                </c:pt>
                <c:pt idx="3">
                  <c:v>Our plan</c:v>
                </c:pt>
              </c:strCache>
            </c:strRef>
          </c:cat>
          <c:val>
            <c:numRef>
              <c:f>Sheet1!$B$2:$B$5</c:f>
              <c:numCache>
                <c:formatCode>General</c:formatCode>
                <c:ptCount val="4"/>
                <c:pt idx="0">
                  <c:v>6916</c:v>
                </c:pt>
                <c:pt idx="1">
                  <c:v>9126</c:v>
                </c:pt>
                <c:pt idx="2">
                  <c:v>8500</c:v>
                </c:pt>
                <c:pt idx="3">
                  <c:v>6000</c:v>
                </c:pt>
              </c:numCache>
            </c:numRef>
          </c:val>
          <c:extLst>
            <c:ext xmlns:c16="http://schemas.microsoft.com/office/drawing/2014/chart" uri="{C3380CC4-5D6E-409C-BE32-E72D297353CC}">
              <c16:uniqueId val="{00000008-B757-4482-B730-69896ED585B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E3B38"/>
                </a:solidFill>
                <a:latin typeface="Arial"/>
              </a:defRPr>
            </a:pPr>
            <a:endParaRPr lang="en-US"/>
          </a:p>
        </c:txPr>
        <c:crossAx val="2094734552"/>
        <c:crosses val="autoZero"/>
        <c:auto val="1"/>
        <c:lblAlgn val="ctr"/>
        <c:lblOffset val="100"/>
        <c:noMultiLvlLbl val="1"/>
      </c:catAx>
      <c:valAx>
        <c:axId val="2094734552"/>
        <c:scaling>
          <c:orientation val="minMax"/>
          <c:max val="11000"/>
          <c:min val="0"/>
        </c:scaling>
        <c:delete val="0"/>
        <c:axPos val="l"/>
        <c:majorGridlines>
          <c:spPr>
            <a:ln w="12700" cap="flat">
              <a:solidFill>
                <a:srgbClr val="E2EC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38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8"/>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10515600" cy="640080"/>
          </a:xfrm>
          <a:prstGeom prst="rect">
            <a:avLst/>
          </a:prstGeom>
          <a:noFill/>
          <a:ln/>
        </p:spPr>
        <p:txBody>
          <a:bodyPr wrap="square" lIns="0" tIns="0" rIns="0" bIns="0" rtlCol="0" anchor="ctr"/>
          <a:lstStyle/>
          <a:p>
            <a:pPr marL="0" indent="0">
              <a:buNone/>
            </a:pPr>
            <a:r>
              <a:rPr lang="en-US" sz="3000" b="1" dirty="0">
                <a:solidFill>
                  <a:srgbClr val="CFFDEB"/>
                </a:solidFill>
                <a:latin typeface="Arial Black" pitchFamily="34" charset="0"/>
                <a:ea typeface="Arial Black" pitchFamily="34" charset="-122"/>
                <a:cs typeface="Arial Black" pitchFamily="34" charset="-120"/>
              </a:rPr>
              <a:t>ENT 609 AUT</a:t>
            </a:r>
            <a:endParaRPr lang="en-US" sz="3000" dirty="0"/>
          </a:p>
        </p:txBody>
      </p:sp>
      <p:sp>
        <p:nvSpPr>
          <p:cNvPr id="3" name="Text 1"/>
          <p:cNvSpPr txBox="1"/>
          <p:nvPr/>
        </p:nvSpPr>
        <p:spPr>
          <a:xfrm>
            <a:off x="822960" y="26060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Arial Black" pitchFamily="34" charset="0"/>
                <a:ea typeface="Arial Black" pitchFamily="34" charset="-122"/>
                <a:cs typeface="Arial Black" pitchFamily="34" charset="-120"/>
              </a:rPr>
              <a:t>1 PAGE MARKETING PLAN</a:t>
            </a:r>
            <a:endParaRPr lang="en-US" sz="4600" dirty="0"/>
          </a:p>
        </p:txBody>
      </p:sp>
      <p:sp>
        <p:nvSpPr>
          <p:cNvPr id="4" name="Text 2"/>
          <p:cNvSpPr txBox="1"/>
          <p:nvPr/>
        </p:nvSpPr>
        <p:spPr>
          <a:xfrm>
            <a:off x="822960" y="3611880"/>
            <a:ext cx="10515600" cy="411480"/>
          </a:xfrm>
          <a:prstGeom prst="rect">
            <a:avLst/>
          </a:prstGeom>
          <a:noFill/>
          <a:ln/>
        </p:spPr>
        <p:txBody>
          <a:bodyPr wrap="square" lIns="0" tIns="0" rIns="0" bIns="0" rtlCol="0" anchor="ctr"/>
          <a:lstStyle/>
          <a:p>
            <a:pPr marL="0" indent="0">
              <a:buNone/>
            </a:pPr>
            <a:r>
              <a:rPr lang="en-US" sz="1600" i="1" dirty="0">
                <a:solidFill>
                  <a:srgbClr val="CFFDEB"/>
                </a:solidFill>
                <a:latin typeface="Arial" pitchFamily="34" charset="0"/>
                <a:ea typeface="Arial" pitchFamily="34" charset="-122"/>
                <a:cs typeface="Arial" pitchFamily="34" charset="-120"/>
              </a:rPr>
              <a:t>City Wide EV Battery Swapping Network for Gig Workers and Commercial Drivers</a:t>
            </a:r>
            <a:endParaRPr lang="en-US" sz="1600" dirty="0"/>
          </a:p>
        </p:txBody>
      </p:sp>
      <p:sp>
        <p:nvSpPr>
          <p:cNvPr id="5" name="Text 3"/>
          <p:cNvSpPr txBox="1"/>
          <p:nvPr/>
        </p:nvSpPr>
        <p:spPr>
          <a:xfrm>
            <a:off x="822960" y="4343400"/>
            <a:ext cx="10515600" cy="320040"/>
          </a:xfrm>
          <a:prstGeom prst="rect">
            <a:avLst/>
          </a:prstGeom>
          <a:noFill/>
          <a:ln/>
        </p:spPr>
        <p:txBody>
          <a:bodyPr wrap="square" lIns="0" tIns="0" rIns="0" bIns="0" rtlCol="0" anchor="ctr"/>
          <a:lstStyle/>
          <a:p>
            <a:pPr marL="0" indent="0">
              <a:buNone/>
            </a:pPr>
            <a:r>
              <a:rPr lang="en-US" sz="1200" dirty="0">
                <a:solidFill>
                  <a:srgbClr val="BFD9D2"/>
                </a:solidFill>
                <a:latin typeface="Arial" pitchFamily="34" charset="0"/>
                <a:ea typeface="Arial" pitchFamily="34" charset="-122"/>
                <a:cs typeface="Arial" pitchFamily="34" charset="-120"/>
              </a:rPr>
              <a:t>Team </a:t>
            </a:r>
            <a:r>
              <a:rPr lang="en-US" sz="1200" dirty="0" err="1">
                <a:solidFill>
                  <a:srgbClr val="BFD9D2"/>
                </a:solidFill>
                <a:latin typeface="Arial" pitchFamily="34" charset="0"/>
                <a:ea typeface="Arial" pitchFamily="34" charset="-122"/>
                <a:cs typeface="Arial" pitchFamily="34" charset="-120"/>
              </a:rPr>
              <a:t>VoltGo</a:t>
            </a:r>
            <a:r>
              <a:rPr lang="en-US" sz="1200" dirty="0">
                <a:solidFill>
                  <a:srgbClr val="BFD9D2"/>
                </a:solidFill>
                <a:latin typeface="Arial" pitchFamily="34" charset="0"/>
                <a:ea typeface="Arial" pitchFamily="34" charset="-122"/>
                <a:cs typeface="Arial" pitchFamily="34" charset="-120"/>
              </a:rPr>
              <a:t>    |    Members: Krishna, Karan, Danish, </a:t>
            </a:r>
            <a:r>
              <a:rPr lang="en-US" sz="1200" dirty="0" err="1">
                <a:solidFill>
                  <a:srgbClr val="BFD9D2"/>
                </a:solidFill>
                <a:latin typeface="Arial" pitchFamily="34" charset="0"/>
                <a:ea typeface="Arial" pitchFamily="34" charset="-122"/>
                <a:cs typeface="Arial" pitchFamily="34" charset="-120"/>
              </a:rPr>
              <a:t>Dashbaatar</a:t>
            </a:r>
            <a:r>
              <a:rPr lang="en-US" sz="1200" dirty="0">
                <a:solidFill>
                  <a:srgbClr val="BFD9D2"/>
                </a:solidFill>
                <a:latin typeface="Arial" pitchFamily="34" charset="0"/>
                <a:ea typeface="Arial" pitchFamily="34" charset="-122"/>
                <a:cs typeface="Arial" pitchFamily="34" charset="-120"/>
              </a:rPr>
              <a:t>, K Behera</a:t>
            </a:r>
            <a:endParaRPr lang="en-US" sz="1200" dirty="0"/>
          </a:p>
        </p:txBody>
      </p:sp>
      <p:sp>
        <p:nvSpPr>
          <p:cNvPr id="6" name="Text 4"/>
          <p:cNvSpPr txBox="1"/>
          <p:nvPr/>
        </p:nvSpPr>
        <p:spPr>
          <a:xfrm>
            <a:off x="822960" y="4709160"/>
            <a:ext cx="10515600" cy="320040"/>
          </a:xfrm>
          <a:prstGeom prst="rect">
            <a:avLst/>
          </a:prstGeom>
          <a:noFill/>
          <a:ln/>
        </p:spPr>
        <p:txBody>
          <a:bodyPr wrap="square" lIns="0" tIns="0" rIns="0" bIns="0" rtlCol="0" anchor="ctr"/>
          <a:lstStyle/>
          <a:p>
            <a:pPr marL="0" indent="0">
              <a:buNone/>
            </a:pPr>
            <a:r>
              <a:rPr lang="en-US" sz="1000" i="1" dirty="0">
                <a:solidFill>
                  <a:srgbClr val="8FA5A1"/>
                </a:solidFill>
                <a:latin typeface="Arial" pitchFamily="34" charset="0"/>
                <a:ea typeface="Arial" pitchFamily="34" charset="-122"/>
                <a:cs typeface="Arial" pitchFamily="34" charset="-120"/>
              </a:rPr>
              <a:t>Built on seven face to face customer interviews recorded in the Customer Discovery Journals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37160" y="91440"/>
            <a:ext cx="11914632" cy="566928"/>
          </a:xfrm>
          <a:prstGeom prst="rect">
            <a:avLst/>
          </a:prstGeom>
          <a:solidFill>
            <a:srgbClr val="196B67"/>
          </a:solidFill>
          <a:ln w="12700">
            <a:solidFill>
              <a:srgbClr val="1A1A1A"/>
            </a:solidFill>
            <a:prstDash val="solid"/>
          </a:ln>
        </p:spPr>
      </p:sp>
      <p:sp>
        <p:nvSpPr>
          <p:cNvPr id="3" name="Text 1"/>
          <p:cNvSpPr txBox="1"/>
          <p:nvPr/>
        </p:nvSpPr>
        <p:spPr>
          <a:xfrm>
            <a:off x="265176" y="118872"/>
            <a:ext cx="8686800" cy="512064"/>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Team – </a:t>
            </a:r>
            <a:r>
              <a:rPr lang="en-US" sz="1500" b="1" dirty="0" err="1">
                <a:solidFill>
                  <a:srgbClr val="FFFFFF"/>
                </a:solidFill>
                <a:latin typeface="Arial Black" pitchFamily="34" charset="0"/>
                <a:ea typeface="Arial Black" pitchFamily="34" charset="-122"/>
                <a:cs typeface="Arial Black" pitchFamily="34" charset="-120"/>
              </a:rPr>
              <a:t>VoltGo</a:t>
            </a:r>
            <a:r>
              <a:rPr lang="en-US" sz="1500" b="1" dirty="0">
                <a:solidFill>
                  <a:srgbClr val="FFFFFF"/>
                </a:solidFill>
                <a:latin typeface="Arial Black" pitchFamily="34" charset="0"/>
                <a:ea typeface="Arial Black" pitchFamily="34" charset="-122"/>
                <a:cs typeface="Arial Black" pitchFamily="34" charset="-120"/>
              </a:rPr>
              <a:t> | 1 Page Marketing Plan</a:t>
            </a:r>
            <a:endParaRPr lang="en-US" sz="1500" dirty="0"/>
          </a:p>
        </p:txBody>
      </p:sp>
      <p:sp>
        <p:nvSpPr>
          <p:cNvPr id="4" name="Text 2"/>
          <p:cNvSpPr txBox="1"/>
          <p:nvPr/>
        </p:nvSpPr>
        <p:spPr>
          <a:xfrm>
            <a:off x="8778240" y="118872"/>
            <a:ext cx="3108960" cy="512064"/>
          </a:xfrm>
          <a:prstGeom prst="rect">
            <a:avLst/>
          </a:prstGeom>
          <a:noFill/>
          <a:ln/>
        </p:spPr>
        <p:txBody>
          <a:bodyPr wrap="square" lIns="0" tIns="0" rIns="0" bIns="0" rtlCol="0" anchor="ctr"/>
          <a:lstStyle/>
          <a:p>
            <a:pPr marL="0" indent="0" algn="r">
              <a:buNone/>
            </a:pPr>
            <a:r>
              <a:rPr lang="en-US" sz="800" i="1" dirty="0">
                <a:solidFill>
                  <a:srgbClr val="CFFDEB"/>
                </a:solidFill>
                <a:latin typeface="Arial" pitchFamily="34" charset="0"/>
                <a:ea typeface="Arial" pitchFamily="34" charset="-122"/>
                <a:cs typeface="Arial" pitchFamily="34" charset="-120"/>
              </a:rPr>
              <a:t>City wide EV battery swapping network for gig workers and commercial drivers        ENT609 2025AUT</a:t>
            </a:r>
            <a:endParaRPr lang="en-US" sz="800" dirty="0"/>
          </a:p>
        </p:txBody>
      </p:sp>
      <p:sp>
        <p:nvSpPr>
          <p:cNvPr id="5" name="Shape 3"/>
          <p:cNvSpPr/>
          <p:nvPr/>
        </p:nvSpPr>
        <p:spPr>
          <a:xfrm>
            <a:off x="137160" y="658368"/>
            <a:ext cx="1691640" cy="4590288"/>
          </a:xfrm>
          <a:prstGeom prst="rect">
            <a:avLst/>
          </a:prstGeom>
          <a:solidFill>
            <a:srgbClr val="F2F2F2"/>
          </a:solidFill>
          <a:ln w="12700">
            <a:solidFill>
              <a:srgbClr val="1A1A1A"/>
            </a:solidFill>
            <a:prstDash val="solid"/>
          </a:ln>
        </p:spPr>
      </p:sp>
      <p:sp>
        <p:nvSpPr>
          <p:cNvPr id="6" name="Text 4"/>
          <p:cNvSpPr txBox="1"/>
          <p:nvPr/>
        </p:nvSpPr>
        <p:spPr>
          <a:xfrm>
            <a:off x="201168" y="713232"/>
            <a:ext cx="156362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Current Option / Cost</a:t>
            </a:r>
            <a:endParaRPr lang="en-US" sz="950" dirty="0"/>
          </a:p>
        </p:txBody>
      </p:sp>
      <p:sp>
        <p:nvSpPr>
          <p:cNvPr id="7" name="Text 5"/>
          <p:cNvSpPr txBox="1"/>
          <p:nvPr/>
        </p:nvSpPr>
        <p:spPr>
          <a:xfrm>
            <a:off x="21945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Petrol bike: Rs 210 to 395 per day of fuel at Rs 111.18 per </a:t>
            </a:r>
            <a:r>
              <a:rPr lang="en-US" sz="850" dirty="0" err="1">
                <a:solidFill>
                  <a:srgbClr val="1F2E2C"/>
                </a:solidFill>
                <a:latin typeface="Arial" pitchFamily="34" charset="0"/>
                <a:ea typeface="Arial" pitchFamily="34" charset="-122"/>
                <a:cs typeface="Arial" pitchFamily="34" charset="-120"/>
              </a:rPr>
              <a:t>litre</a:t>
            </a:r>
            <a:r>
              <a:rPr lang="en-US" sz="850" dirty="0">
                <a:solidFill>
                  <a:srgbClr val="1F2E2C"/>
                </a:solidFill>
                <a:latin typeface="Arial" pitchFamily="34" charset="0"/>
                <a:ea typeface="Arial" pitchFamily="34" charset="-122"/>
                <a:cs typeface="Arial" pitchFamily="34" charset="-120"/>
              </a:rPr>
              <a:t> </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CNG auto: Rs 325 to 390 per day at Rs 88 per kg, plus a 20 to 45 minute refuel queue </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Rental EV with unlimited swaps: Rs 7,000 to 9,000 per month, vehicle not owned</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Pay per swap networks: Rs 120 to 250 a swap, about Rs 1.3 to 1.7 per km [6]</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Home charging: 4 to 6 hours, not possible mid shift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Providers: Battery Smart (1,600+ stations), Sun Mobility with IndianOil, Honda e:Swap [2]</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Key technology: lithium ion packs in locked smart cabinets with IoT enabled BMS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Bought from rental fleet operators, per swap apps and EV dealers</a:t>
            </a:r>
            <a:endParaRPr lang="en-US" sz="850" dirty="0"/>
          </a:p>
        </p:txBody>
      </p:sp>
      <p:sp>
        <p:nvSpPr>
          <p:cNvPr id="8" name="Shape 6"/>
          <p:cNvSpPr/>
          <p:nvPr/>
        </p:nvSpPr>
        <p:spPr>
          <a:xfrm>
            <a:off x="1828800" y="658368"/>
            <a:ext cx="1691640" cy="4590288"/>
          </a:xfrm>
          <a:prstGeom prst="rect">
            <a:avLst/>
          </a:prstGeom>
          <a:solidFill>
            <a:srgbClr val="F2F2F2"/>
          </a:solidFill>
          <a:ln w="12700">
            <a:solidFill>
              <a:srgbClr val="1A1A1A"/>
            </a:solidFill>
            <a:prstDash val="solid"/>
          </a:ln>
        </p:spPr>
      </p:sp>
      <p:sp>
        <p:nvSpPr>
          <p:cNvPr id="9" name="Text 7"/>
          <p:cNvSpPr txBox="1"/>
          <p:nvPr/>
        </p:nvSpPr>
        <p:spPr>
          <a:xfrm>
            <a:off x="1892808" y="713232"/>
            <a:ext cx="156362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Customer Unmet Need</a:t>
            </a:r>
            <a:endParaRPr lang="en-US" sz="950" dirty="0"/>
          </a:p>
        </p:txBody>
      </p:sp>
      <p:sp>
        <p:nvSpPr>
          <p:cNvPr id="10" name="Text 8"/>
          <p:cNvSpPr txBox="1"/>
          <p:nvPr/>
        </p:nvSpPr>
        <p:spPr>
          <a:xfrm>
            <a:off x="191109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Job to be done: keep earning through the shift without stopping to charge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Charging downtime directly cuts earning hours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Nearest swap point was up to 10 km away, so trips were lost (Customer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Rental at Rs 7,000 to 9,000 a month is unaffordable, so riders went back to petrol (Customer 4)</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Riders want to own the vehicle and build an asset, not stay on rent (Customers 5 and 6)</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Slum housing has no room to charge inside, and outside power is unreliable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Met today: energy is available somewhere in the city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Not met: low cost, nearby, and usable on a vehicle the rider owns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Loss if unmet: 1 to 2 earning hours a day and stalled EV adoption</a:t>
            </a:r>
            <a:endParaRPr lang="en-US" sz="850" dirty="0"/>
          </a:p>
        </p:txBody>
      </p:sp>
      <p:sp>
        <p:nvSpPr>
          <p:cNvPr id="11" name="Shape 9"/>
          <p:cNvSpPr/>
          <p:nvPr/>
        </p:nvSpPr>
        <p:spPr>
          <a:xfrm>
            <a:off x="3520440" y="658368"/>
            <a:ext cx="1691640" cy="4590288"/>
          </a:xfrm>
          <a:prstGeom prst="rect">
            <a:avLst/>
          </a:prstGeom>
          <a:solidFill>
            <a:srgbClr val="F2F2F2"/>
          </a:solidFill>
          <a:ln w="12700">
            <a:solidFill>
              <a:srgbClr val="1A1A1A"/>
            </a:solidFill>
            <a:prstDash val="solid"/>
          </a:ln>
        </p:spPr>
      </p:sp>
      <p:sp>
        <p:nvSpPr>
          <p:cNvPr id="12" name="Text 10"/>
          <p:cNvSpPr txBox="1"/>
          <p:nvPr/>
        </p:nvSpPr>
        <p:spPr>
          <a:xfrm>
            <a:off x="3584448" y="713232"/>
            <a:ext cx="156362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Customer and Market Profile</a:t>
            </a:r>
            <a:endParaRPr lang="en-US" sz="950" dirty="0"/>
          </a:p>
        </p:txBody>
      </p:sp>
      <p:sp>
        <p:nvSpPr>
          <p:cNvPr id="13" name="Text 11"/>
          <p:cNvSpPr txBox="1"/>
          <p:nvPr/>
        </p:nvSpPr>
        <p:spPr>
          <a:xfrm>
            <a:off x="360273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Bike taxi riders (Rapido), quick commerce delivery partners (Instamart), CNG auto and e-rickshaw drivers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Male, age 20 to 40, monthly earning Rs 18,000 to 35,000</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Daily running 60 to 150 km across 26 to 28 days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Habits: WhatsApp rider groups, UPI payment, platform rider hubs, regional language reels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Priorities: maximise earning hours, keep fixed monthly cost low, own the vehicle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India crossed 3,000 swap stations and USD 325 million invested by mid 2026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Market USD 33.6 million in 2026 to USD 105.5 million by 2031, CAGR 25.7 percent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Addressable by Year 3: 5,400 subscribers on 120 Mumbai stations</a:t>
            </a:r>
            <a:endParaRPr lang="en-US" sz="850" dirty="0"/>
          </a:p>
        </p:txBody>
      </p:sp>
      <p:sp>
        <p:nvSpPr>
          <p:cNvPr id="14" name="Shape 12"/>
          <p:cNvSpPr/>
          <p:nvPr/>
        </p:nvSpPr>
        <p:spPr>
          <a:xfrm>
            <a:off x="5212080" y="658368"/>
            <a:ext cx="1783080" cy="6053328"/>
          </a:xfrm>
          <a:prstGeom prst="rect">
            <a:avLst/>
          </a:prstGeom>
          <a:solidFill>
            <a:srgbClr val="CFFDEB"/>
          </a:solidFill>
          <a:ln w="12700">
            <a:solidFill>
              <a:srgbClr val="1A1A1A"/>
            </a:solidFill>
            <a:prstDash val="solid"/>
          </a:ln>
        </p:spPr>
      </p:sp>
      <p:sp>
        <p:nvSpPr>
          <p:cNvPr id="15" name="Text 13"/>
          <p:cNvSpPr txBox="1"/>
          <p:nvPr/>
        </p:nvSpPr>
        <p:spPr>
          <a:xfrm>
            <a:off x="5276088" y="713232"/>
            <a:ext cx="165506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VALUE PROPOSITION</a:t>
            </a:r>
            <a:endParaRPr lang="en-US" sz="950" dirty="0"/>
          </a:p>
        </p:txBody>
      </p:sp>
      <p:sp>
        <p:nvSpPr>
          <p:cNvPr id="16" name="Text 14"/>
          <p:cNvSpPr txBox="1"/>
          <p:nvPr/>
        </p:nvSpPr>
        <p:spPr>
          <a:xfrm>
            <a:off x="5294376" y="1133856"/>
            <a:ext cx="1618488" cy="5504688"/>
          </a:xfrm>
          <a:prstGeom prst="rect">
            <a:avLst/>
          </a:prstGeom>
          <a:noFill/>
          <a:ln/>
        </p:spPr>
        <p:txBody>
          <a:bodyPr wrap="square" lIns="0" tIns="0" rIns="0" bIns="0" rtlCol="0" anchor="t"/>
          <a:lstStyle/>
          <a:p>
            <a:pPr marL="0" indent="0">
              <a:lnSpc>
                <a:spcPts val="1100"/>
              </a:lnSpc>
              <a:buNone/>
            </a:pPr>
            <a:r>
              <a:rPr lang="en-US" sz="900" b="1" dirty="0">
                <a:solidFill>
                  <a:srgbClr val="196B67"/>
                </a:solidFill>
                <a:latin typeface="Arial" pitchFamily="34" charset="0"/>
                <a:ea typeface="Arial" pitchFamily="34" charset="-122"/>
                <a:cs typeface="Arial" pitchFamily="34" charset="-120"/>
              </a:rPr>
              <a:t>For  </a:t>
            </a:r>
            <a:r>
              <a:rPr lang="en-US" sz="900" dirty="0">
                <a:solidFill>
                  <a:srgbClr val="1F2E2C"/>
                </a:solidFill>
                <a:latin typeface="Arial" pitchFamily="34" charset="0"/>
                <a:ea typeface="Arial" pitchFamily="34" charset="-122"/>
                <a:cs typeface="Arial" pitchFamily="34" charset="-120"/>
              </a:rPr>
              <a:t>delivery riders, bike taxi riders and auto drivers in Mumbai who run 80 to 150 km every day</a:t>
            </a:r>
            <a:endParaRPr lang="en-US" sz="900" dirty="0"/>
          </a:p>
          <a:p>
            <a:pPr marL="0" indent="0">
              <a:lnSpc>
                <a:spcPts val="1100"/>
              </a:lnSpc>
              <a:buNone/>
            </a:pPr>
            <a:r>
              <a:rPr lang="en-US" sz="900" b="1" dirty="0">
                <a:solidFill>
                  <a:srgbClr val="196B67"/>
                </a:solidFill>
                <a:latin typeface="Arial" pitchFamily="34" charset="0"/>
                <a:ea typeface="Arial" pitchFamily="34" charset="-122"/>
                <a:cs typeface="Arial" pitchFamily="34" charset="-120"/>
              </a:rPr>
              <a:t>Who  </a:t>
            </a:r>
            <a:r>
              <a:rPr lang="en-US" sz="900" dirty="0">
                <a:solidFill>
                  <a:srgbClr val="1F2E2C"/>
                </a:solidFill>
                <a:latin typeface="Arial" pitchFamily="34" charset="0"/>
                <a:ea typeface="Arial" pitchFamily="34" charset="-122"/>
                <a:cs typeface="Arial" pitchFamily="34" charset="-120"/>
              </a:rPr>
              <a:t>lose earning hours to charging and cannot afford a rental EV at Rs 7,000 to 9,000 a month</a:t>
            </a:r>
            <a:endParaRPr lang="en-US" sz="900" dirty="0"/>
          </a:p>
          <a:p>
            <a:pPr marL="0" indent="0">
              <a:lnSpc>
                <a:spcPts val="1100"/>
              </a:lnSpc>
              <a:buNone/>
            </a:pPr>
            <a:r>
              <a:rPr lang="en-US" sz="900" b="1" dirty="0">
                <a:solidFill>
                  <a:srgbClr val="196B67"/>
                </a:solidFill>
                <a:latin typeface="Arial" pitchFamily="34" charset="0"/>
                <a:ea typeface="Arial" pitchFamily="34" charset="-122"/>
                <a:cs typeface="Arial" pitchFamily="34" charset="-120"/>
              </a:rPr>
              <a:t>We  </a:t>
            </a:r>
            <a:r>
              <a:rPr lang="en-US" sz="900" b="1" dirty="0" err="1">
                <a:solidFill>
                  <a:srgbClr val="1F2E2C"/>
                </a:solidFill>
                <a:latin typeface="Arial" pitchFamily="34" charset="0"/>
                <a:ea typeface="Arial" pitchFamily="34" charset="-122"/>
                <a:cs typeface="Arial" pitchFamily="34" charset="-120"/>
              </a:rPr>
              <a:t>VoltGo</a:t>
            </a:r>
            <a:r>
              <a:rPr lang="en-US" sz="900" dirty="0">
                <a:solidFill>
                  <a:srgbClr val="1F2E2C"/>
                </a:solidFill>
                <a:latin typeface="Arial" pitchFamily="34" charset="0"/>
                <a:ea typeface="Arial" pitchFamily="34" charset="-122"/>
                <a:cs typeface="Arial" pitchFamily="34" charset="-120"/>
              </a:rPr>
              <a:t> operate a city wide battery swapping network hosted at partner petrol pumps</a:t>
            </a:r>
            <a:endParaRPr lang="en-US" sz="900" dirty="0"/>
          </a:p>
          <a:p>
            <a:pPr marL="0" indent="0">
              <a:lnSpc>
                <a:spcPts val="1100"/>
              </a:lnSpc>
              <a:buNone/>
            </a:pPr>
            <a:r>
              <a:rPr lang="en-US" sz="900" b="1" dirty="0">
                <a:solidFill>
                  <a:srgbClr val="196B67"/>
                </a:solidFill>
                <a:latin typeface="Arial" pitchFamily="34" charset="0"/>
                <a:ea typeface="Arial" pitchFamily="34" charset="-122"/>
                <a:cs typeface="Arial" pitchFamily="34" charset="-120"/>
              </a:rPr>
              <a:t>Offer  </a:t>
            </a:r>
            <a:r>
              <a:rPr lang="en-US" sz="900" dirty="0">
                <a:solidFill>
                  <a:srgbClr val="1F2E2C"/>
                </a:solidFill>
                <a:latin typeface="Arial" pitchFamily="34" charset="0"/>
                <a:ea typeface="Arial" pitchFamily="34" charset="-122"/>
                <a:cs typeface="Arial" pitchFamily="34" charset="-120"/>
              </a:rPr>
              <a:t>unlimited two to three minute swaps on the rider's own electric vehicle, with no rental and no battery ownership</a:t>
            </a:r>
            <a:endParaRPr lang="en-US" sz="900" dirty="0"/>
          </a:p>
          <a:p>
            <a:pPr marL="0" indent="0">
              <a:lnSpc>
                <a:spcPts val="1100"/>
              </a:lnSpc>
              <a:buNone/>
            </a:pPr>
            <a:r>
              <a:rPr lang="en-US" sz="900" b="1" dirty="0">
                <a:solidFill>
                  <a:srgbClr val="196B67"/>
                </a:solidFill>
                <a:latin typeface="Arial" pitchFamily="34" charset="0"/>
                <a:ea typeface="Arial" pitchFamily="34" charset="-122"/>
                <a:cs typeface="Arial" pitchFamily="34" charset="-120"/>
              </a:rPr>
              <a:t>Which is  </a:t>
            </a:r>
            <a:r>
              <a:rPr lang="en-US" sz="900" dirty="0">
                <a:solidFill>
                  <a:srgbClr val="1F2E2C"/>
                </a:solidFill>
                <a:latin typeface="Arial" pitchFamily="34" charset="0"/>
                <a:ea typeface="Arial" pitchFamily="34" charset="-122"/>
                <a:cs typeface="Arial" pitchFamily="34" charset="-120"/>
              </a:rPr>
              <a:t>faster than every charging option and fixed in price, unlike petrol and CNG which keep rising</a:t>
            </a:r>
            <a:endParaRPr lang="en-US" sz="900" dirty="0"/>
          </a:p>
          <a:p>
            <a:pPr marL="0" indent="0">
              <a:lnSpc>
                <a:spcPts val="1100"/>
              </a:lnSpc>
              <a:buNone/>
            </a:pPr>
            <a:r>
              <a:rPr lang="en-US" sz="900" b="1" dirty="0">
                <a:solidFill>
                  <a:srgbClr val="196B67"/>
                </a:solidFill>
                <a:latin typeface="Arial" pitchFamily="34" charset="0"/>
                <a:ea typeface="Arial" pitchFamily="34" charset="-122"/>
                <a:cs typeface="Arial" pitchFamily="34" charset="-120"/>
              </a:rPr>
              <a:t>At  </a:t>
            </a:r>
            <a:r>
              <a:rPr lang="en-US" sz="900" dirty="0">
                <a:solidFill>
                  <a:srgbClr val="1F2E2C"/>
                </a:solidFill>
                <a:latin typeface="Arial" pitchFamily="34" charset="0"/>
                <a:ea typeface="Arial" pitchFamily="34" charset="-122"/>
                <a:cs typeface="Arial" pitchFamily="34" charset="-120"/>
              </a:rPr>
              <a:t>Rs 6,000 per month, unlimited swaps</a:t>
            </a:r>
            <a:endParaRPr lang="en-US" sz="900" dirty="0"/>
          </a:p>
        </p:txBody>
      </p:sp>
      <p:sp>
        <p:nvSpPr>
          <p:cNvPr id="17" name="Shape 15"/>
          <p:cNvSpPr/>
          <p:nvPr/>
        </p:nvSpPr>
        <p:spPr>
          <a:xfrm>
            <a:off x="6995160" y="658368"/>
            <a:ext cx="1691640" cy="4590288"/>
          </a:xfrm>
          <a:prstGeom prst="rect">
            <a:avLst/>
          </a:prstGeom>
          <a:solidFill>
            <a:srgbClr val="F2F2F2"/>
          </a:solidFill>
          <a:ln w="12700">
            <a:solidFill>
              <a:srgbClr val="1A1A1A"/>
            </a:solidFill>
            <a:prstDash val="solid"/>
          </a:ln>
        </p:spPr>
      </p:sp>
      <p:sp>
        <p:nvSpPr>
          <p:cNvPr id="18" name="Text 16"/>
          <p:cNvSpPr txBox="1"/>
          <p:nvPr/>
        </p:nvSpPr>
        <p:spPr>
          <a:xfrm>
            <a:off x="7059168" y="713232"/>
            <a:ext cx="156362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Proposed Solution</a:t>
            </a:r>
            <a:endParaRPr lang="en-US" sz="950" dirty="0"/>
          </a:p>
        </p:txBody>
      </p:sp>
      <p:sp>
        <p:nvSpPr>
          <p:cNvPr id="19" name="Text 17"/>
          <p:cNvSpPr txBox="1"/>
          <p:nvPr/>
        </p:nvSpPr>
        <p:spPr>
          <a:xfrm>
            <a:off x="707745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20 slot smart swap cabinet hosted at partner petrol pumps, 100 to 150 sq ft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One standard module: 2.0 kWh, 48 V, LFP, 10 to 12 kg, hand liftable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Two wheeler takes 2 modules (4 kWh), electric auto takes 4 modules (8 kWh)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Interface: app with QR unlock, live station stock, UPI billing, swap history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Smart BMS with IoT tracking of cycles, temperature and state of health, AIS 156 compliant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1 kW charger per slot at 0.5C, about 2 hours per module, 20 kW load on a 25 kVA LT connection</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Modules assembled and tested in house from Indian ACC cells, cabinets sourced locally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Serviced remotely, faulty packs pulled to a central depot, retrofit kit for existing fleet EVs</a:t>
            </a:r>
            <a:endParaRPr lang="en-US" sz="850" dirty="0"/>
          </a:p>
        </p:txBody>
      </p:sp>
      <p:sp>
        <p:nvSpPr>
          <p:cNvPr id="20" name="Shape 18"/>
          <p:cNvSpPr/>
          <p:nvPr/>
        </p:nvSpPr>
        <p:spPr>
          <a:xfrm>
            <a:off x="8686800" y="658368"/>
            <a:ext cx="1691640" cy="4590288"/>
          </a:xfrm>
          <a:prstGeom prst="rect">
            <a:avLst/>
          </a:prstGeom>
          <a:solidFill>
            <a:srgbClr val="F2F2F2"/>
          </a:solidFill>
          <a:ln w="12700">
            <a:solidFill>
              <a:srgbClr val="1A1A1A"/>
            </a:solidFill>
            <a:prstDash val="solid"/>
          </a:ln>
        </p:spPr>
      </p:sp>
      <p:sp>
        <p:nvSpPr>
          <p:cNvPr id="21" name="Text 19"/>
          <p:cNvSpPr txBox="1"/>
          <p:nvPr/>
        </p:nvSpPr>
        <p:spPr>
          <a:xfrm>
            <a:off x="8750808" y="713232"/>
            <a:ext cx="1563624"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Better / Faster / Cheaper</a:t>
            </a:r>
            <a:endParaRPr lang="en-US" sz="950" dirty="0"/>
          </a:p>
        </p:txBody>
      </p:sp>
      <p:sp>
        <p:nvSpPr>
          <p:cNvPr id="22" name="Text 20"/>
          <p:cNvSpPr txBox="1"/>
          <p:nvPr/>
        </p:nvSpPr>
        <p:spPr>
          <a:xfrm>
            <a:off x="876909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petrol bike: Rs 0.44 per km against Rs 2.47 per km</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CNG auto: Rs 0.44 against Rs 3.26 per km, a saving of about Rs 3,100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rental EV: the rider owns the vehicle and saves Rs 1,000 to 3,000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home charging: 2 to 3 minutes against 4 to 6 hours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CNG refuelling: 2 to 3 minutes against a 20 to 45 minute queue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pay per swap: one fixed monthly bill with no per trip cost anxiety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Quality: AIS 156 compliant packs, every swap logged, pack health tracked continuously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After sales: a healthy pack is handed over on the spot, the rider never waits for a repair</a:t>
            </a:r>
            <a:endParaRPr lang="en-US" sz="850" dirty="0"/>
          </a:p>
        </p:txBody>
      </p:sp>
      <p:sp>
        <p:nvSpPr>
          <p:cNvPr id="23" name="Shape 21"/>
          <p:cNvSpPr/>
          <p:nvPr/>
        </p:nvSpPr>
        <p:spPr>
          <a:xfrm>
            <a:off x="10378440" y="658368"/>
            <a:ext cx="1673352" cy="4590288"/>
          </a:xfrm>
          <a:prstGeom prst="rect">
            <a:avLst/>
          </a:prstGeom>
          <a:solidFill>
            <a:srgbClr val="F2F2F2"/>
          </a:solidFill>
          <a:ln w="12700">
            <a:solidFill>
              <a:srgbClr val="1A1A1A"/>
            </a:solidFill>
            <a:prstDash val="solid"/>
          </a:ln>
        </p:spPr>
      </p:sp>
      <p:sp>
        <p:nvSpPr>
          <p:cNvPr id="24" name="Text 22"/>
          <p:cNvSpPr txBox="1"/>
          <p:nvPr/>
        </p:nvSpPr>
        <p:spPr>
          <a:xfrm>
            <a:off x="10442448" y="713232"/>
            <a:ext cx="1545336" cy="365760"/>
          </a:xfrm>
          <a:prstGeom prst="rect">
            <a:avLst/>
          </a:prstGeom>
          <a:noFill/>
          <a:ln/>
        </p:spPr>
        <p:txBody>
          <a:bodyPr wrap="square" lIns="0" tIns="0" rIns="0" bIns="0" rtlCol="0" anchor="ctr"/>
          <a:lstStyle/>
          <a:p>
            <a:pPr marL="0" indent="0" algn="ctr">
              <a:buNone/>
            </a:pPr>
            <a:r>
              <a:rPr lang="en-US" sz="950" b="1" dirty="0">
                <a:solidFill>
                  <a:srgbClr val="0E3B38"/>
                </a:solidFill>
                <a:latin typeface="Arial Black" pitchFamily="34" charset="0"/>
                <a:ea typeface="Arial Black" pitchFamily="34" charset="-122"/>
                <a:cs typeface="Arial Black" pitchFamily="34" charset="-120"/>
              </a:rPr>
              <a:t>Unit Price / Cost</a:t>
            </a:r>
            <a:endParaRPr lang="en-US" sz="950" dirty="0"/>
          </a:p>
        </p:txBody>
      </p:sp>
      <p:sp>
        <p:nvSpPr>
          <p:cNvPr id="25" name="Text 23"/>
          <p:cNvSpPr txBox="1"/>
          <p:nvPr/>
        </p:nvSpPr>
        <p:spPr>
          <a:xfrm>
            <a:off x="10460736" y="1133856"/>
            <a:ext cx="1508760" cy="4041648"/>
          </a:xfrm>
          <a:prstGeom prst="rect">
            <a:avLst/>
          </a:prstGeom>
          <a:noFill/>
          <a:ln/>
        </p:spPr>
        <p:txBody>
          <a:bodyPr wrap="square" lIns="0" tIns="0" rIns="0" bIns="0" rtlCol="0" anchor="t"/>
          <a:lstStyle/>
          <a:p>
            <a:pPr marL="0" indent="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COST per station</a:t>
            </a:r>
            <a:endParaRPr lang="en-US" sz="850" dirty="0"/>
          </a:p>
          <a:p>
            <a:pPr marL="0" indent="0">
              <a:lnSpc>
                <a:spcPts val="1000"/>
              </a:lnSpc>
              <a:buNone/>
            </a:pPr>
            <a:r>
              <a:rPr lang="en-US" sz="850" dirty="0">
                <a:solidFill>
                  <a:srgbClr val="1F2E2C"/>
                </a:solidFill>
                <a:latin typeface="Arial" pitchFamily="34" charset="0"/>
                <a:ea typeface="Arial" pitchFamily="34" charset="-122"/>
                <a:cs typeface="Arial" pitchFamily="34" charset="-120"/>
              </a:rPr>
              <a:t>40 packs at Rs 27,000: Rs 10.80 L</a:t>
            </a:r>
            <a:endParaRPr lang="en-US" sz="850" dirty="0"/>
          </a:p>
          <a:p>
            <a:pPr marL="0" indent="0">
              <a:lnSpc>
                <a:spcPts val="1000"/>
              </a:lnSpc>
              <a:buNone/>
            </a:pPr>
            <a:r>
              <a:rPr lang="en-US" sz="850" dirty="0">
                <a:solidFill>
                  <a:srgbClr val="1F2E2C"/>
                </a:solidFill>
                <a:latin typeface="Arial" pitchFamily="34" charset="0"/>
                <a:ea typeface="Arial" pitchFamily="34" charset="-122"/>
                <a:cs typeface="Arial" pitchFamily="34" charset="-120"/>
              </a:rPr>
              <a:t>Cabinet and chargers: Rs 3.50 L</a:t>
            </a:r>
            <a:endParaRPr lang="en-US" sz="850" dirty="0"/>
          </a:p>
          <a:p>
            <a:pPr marL="0" indent="0">
              <a:lnSpc>
                <a:spcPts val="1000"/>
              </a:lnSpc>
              <a:buNone/>
            </a:pPr>
            <a:r>
              <a:rPr lang="en-US" sz="850" dirty="0">
                <a:solidFill>
                  <a:srgbClr val="1F2E2C"/>
                </a:solidFill>
                <a:latin typeface="Arial" pitchFamily="34" charset="0"/>
                <a:ea typeface="Arial" pitchFamily="34" charset="-122"/>
                <a:cs typeface="Arial" pitchFamily="34" charset="-120"/>
              </a:rPr>
              <a:t>Install, electrical and civil: Rs 1.50 L</a:t>
            </a:r>
            <a:endParaRPr lang="en-US" sz="850" dirty="0"/>
          </a:p>
          <a:p>
            <a:pPr marL="0" indent="0">
              <a:lnSpc>
                <a:spcPts val="1000"/>
              </a:lnSpc>
              <a:spcAft>
                <a:spcPts val="300"/>
              </a:spcAft>
              <a:buNone/>
            </a:pPr>
            <a:r>
              <a:rPr lang="en-US" sz="850" b="1" dirty="0">
                <a:solidFill>
                  <a:srgbClr val="1F2E2C"/>
                </a:solidFill>
                <a:latin typeface="Arial" pitchFamily="34" charset="0"/>
                <a:ea typeface="Arial" pitchFamily="34" charset="-122"/>
                <a:cs typeface="Arial" pitchFamily="34" charset="-120"/>
              </a:rPr>
              <a:t>Capex per station: Rs 15.80 L</a:t>
            </a:r>
            <a:endParaRPr lang="en-US" sz="850" dirty="0"/>
          </a:p>
          <a:p>
            <a:pPr marL="0" indent="0">
              <a:lnSpc>
                <a:spcPts val="1000"/>
              </a:lnSpc>
              <a:spcAft>
                <a:spcPts val="700"/>
              </a:spcAft>
              <a:buNone/>
            </a:pPr>
            <a:r>
              <a:rPr lang="en-US" sz="850" dirty="0">
                <a:solidFill>
                  <a:srgbClr val="1F2E2C"/>
                </a:solidFill>
                <a:latin typeface="Arial" pitchFamily="34" charset="0"/>
                <a:ea typeface="Arial" pitchFamily="34" charset="-122"/>
                <a:cs typeface="Arial" pitchFamily="34" charset="-120"/>
              </a:rPr>
              <a:t>Monthly: electricity Rs 0.67 L, pump share Rs 0.20 L, battery depreciation Rs 0.18 L, software and service Rs 0.15 L</a:t>
            </a:r>
            <a:endParaRPr lang="en-US" sz="850" dirty="0"/>
          </a:p>
          <a:p>
            <a:pPr marL="0" indent="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PRICE</a:t>
            </a:r>
            <a:endParaRPr lang="en-US" sz="850" dirty="0"/>
          </a:p>
          <a:p>
            <a:pPr marL="0" indent="0">
              <a:lnSpc>
                <a:spcPts val="1000"/>
              </a:lnSpc>
              <a:buNone/>
            </a:pPr>
            <a:r>
              <a:rPr lang="en-US" sz="850" dirty="0">
                <a:solidFill>
                  <a:srgbClr val="1F2E2C"/>
                </a:solidFill>
                <a:latin typeface="Arial" pitchFamily="34" charset="0"/>
                <a:ea typeface="Arial" pitchFamily="34" charset="-122"/>
                <a:cs typeface="Arial" pitchFamily="34" charset="-120"/>
              </a:rPr>
              <a:t>Fixed monthly subscription with unlimited swaps. Rs 6,000 a month for two wheelers. Rs 6,000 introductory for autos, moving to Rs 7,500 at scale since an auto draws double the energy.</a:t>
            </a:r>
            <a:endParaRPr lang="en-US" sz="850" dirty="0"/>
          </a:p>
          <a:p>
            <a:pPr marL="0" indent="0">
              <a:lnSpc>
                <a:spcPts val="1000"/>
              </a:lnSpc>
              <a:spcAft>
                <a:spcPts val="700"/>
              </a:spcAft>
              <a:buNone/>
            </a:pPr>
            <a:r>
              <a:rPr lang="en-US" sz="850" b="1" dirty="0">
                <a:solidFill>
                  <a:srgbClr val="1F2E2C"/>
                </a:solidFill>
                <a:latin typeface="Arial" pitchFamily="34" charset="0"/>
                <a:ea typeface="Arial" pitchFamily="34" charset="-122"/>
                <a:cs typeface="Arial" pitchFamily="34" charset="-120"/>
              </a:rPr>
              <a:t>Contribution: Rs 1.50 L a month per station, payback in 18 to 24 months [7]</a:t>
            </a:r>
            <a:endParaRPr lang="en-US" sz="850" dirty="0"/>
          </a:p>
          <a:p>
            <a:pPr marL="0" indent="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LAUNCH INVESTMENT</a:t>
            </a:r>
            <a:endParaRPr lang="en-US" sz="850" dirty="0"/>
          </a:p>
          <a:p>
            <a:pPr marL="0" indent="0">
              <a:lnSpc>
                <a:spcPts val="1000"/>
              </a:lnSpc>
              <a:buNone/>
            </a:pPr>
            <a:r>
              <a:rPr lang="en-US" sz="850" dirty="0">
                <a:solidFill>
                  <a:srgbClr val="1F2E2C"/>
                </a:solidFill>
                <a:latin typeface="Arial" pitchFamily="34" charset="0"/>
                <a:ea typeface="Arial" pitchFamily="34" charset="-122"/>
                <a:cs typeface="Arial" pitchFamily="34" charset="-120"/>
              </a:rPr>
              <a:t>Rs 1.58 Cr for 10 stations, Rs 30 L software platform, Rs 20 L marketing and rider acquisition</a:t>
            </a:r>
            <a:endParaRPr lang="en-US" sz="850" dirty="0"/>
          </a:p>
        </p:txBody>
      </p:sp>
      <p:sp>
        <p:nvSpPr>
          <p:cNvPr id="26" name="Shape 24"/>
          <p:cNvSpPr/>
          <p:nvPr/>
        </p:nvSpPr>
        <p:spPr>
          <a:xfrm>
            <a:off x="137160" y="5248656"/>
            <a:ext cx="5074920" cy="1463040"/>
          </a:xfrm>
          <a:prstGeom prst="rect">
            <a:avLst/>
          </a:prstGeom>
          <a:solidFill>
            <a:srgbClr val="CFFDEB"/>
          </a:solidFill>
          <a:ln w="12700">
            <a:solidFill>
              <a:srgbClr val="1A1A1A"/>
            </a:solidFill>
            <a:prstDash val="solid"/>
          </a:ln>
        </p:spPr>
      </p:sp>
      <p:sp>
        <p:nvSpPr>
          <p:cNvPr id="27" name="Text 25"/>
          <p:cNvSpPr txBox="1"/>
          <p:nvPr/>
        </p:nvSpPr>
        <p:spPr>
          <a:xfrm>
            <a:off x="219456" y="5285232"/>
            <a:ext cx="4910328" cy="237744"/>
          </a:xfrm>
          <a:prstGeom prst="rect">
            <a:avLst/>
          </a:prstGeom>
          <a:noFill/>
          <a:ln/>
        </p:spPr>
        <p:txBody>
          <a:bodyPr wrap="square" lIns="0" tIns="0" rIns="0" bIns="0" rtlCol="0" anchor="ctr"/>
          <a:lstStyle/>
          <a:p>
            <a:pPr marL="0" indent="0">
              <a:buNone/>
            </a:pPr>
            <a:r>
              <a:rPr lang="en-US" sz="950" b="1" dirty="0">
                <a:solidFill>
                  <a:srgbClr val="0E3B38"/>
                </a:solidFill>
                <a:latin typeface="Arial Black" pitchFamily="34" charset="0"/>
                <a:ea typeface="Arial Black" pitchFamily="34" charset="-122"/>
                <a:cs typeface="Arial Black" pitchFamily="34" charset="-120"/>
              </a:rPr>
              <a:t>Producing, Advertising, Distribution</a:t>
            </a:r>
            <a:endParaRPr lang="en-US" sz="950" dirty="0"/>
          </a:p>
        </p:txBody>
      </p:sp>
      <p:sp>
        <p:nvSpPr>
          <p:cNvPr id="28" name="Text 26"/>
          <p:cNvSpPr txBox="1"/>
          <p:nvPr/>
        </p:nvSpPr>
        <p:spPr>
          <a:xfrm>
            <a:off x="219456" y="5541264"/>
            <a:ext cx="4910328" cy="1115568"/>
          </a:xfrm>
          <a:prstGeom prst="rect">
            <a:avLst/>
          </a:prstGeom>
          <a:noFill/>
          <a:ln/>
        </p:spPr>
        <p:txBody>
          <a:bodyPr wrap="square" lIns="0" tIns="0" rIns="0" bIns="0" rtlCol="0" anchor="t"/>
          <a:lstStyle/>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Produce and source: modules assembled and tested in house from Indian ACC cell suppliers, cabinets sourced locally, packs stored and conditioned at one central Mumbai depot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Distribute and deliver: host model at partner petrol pumps on 100 to 150 sq ft with a revenue share of Rs 20,000 a month, so no land is purchased and the network scales fast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Service: IoT health monitoring of every pack, faulty packs pulled to the depot and replaced on the spot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Advertise and sell: onboarding desks at Rapido and Instamart rider hubs, WhatsApp rider groups, referral bonus of one free week, signage at partner pumps, regional language reels, tie ups with EV dealers at the point of sale</a:t>
            </a:r>
            <a:endParaRPr lang="en-US" sz="750" dirty="0"/>
          </a:p>
        </p:txBody>
      </p:sp>
      <p:sp>
        <p:nvSpPr>
          <p:cNvPr id="29" name="Shape 27"/>
          <p:cNvSpPr/>
          <p:nvPr/>
        </p:nvSpPr>
        <p:spPr>
          <a:xfrm>
            <a:off x="6995160" y="5248656"/>
            <a:ext cx="5056632" cy="1463040"/>
          </a:xfrm>
          <a:prstGeom prst="rect">
            <a:avLst/>
          </a:prstGeom>
          <a:solidFill>
            <a:srgbClr val="CFFDEB"/>
          </a:solidFill>
          <a:ln w="12700">
            <a:solidFill>
              <a:srgbClr val="1A1A1A"/>
            </a:solidFill>
            <a:prstDash val="solid"/>
          </a:ln>
        </p:spPr>
      </p:sp>
      <p:sp>
        <p:nvSpPr>
          <p:cNvPr id="30" name="Text 28"/>
          <p:cNvSpPr txBox="1"/>
          <p:nvPr/>
        </p:nvSpPr>
        <p:spPr>
          <a:xfrm>
            <a:off x="7077456" y="5285232"/>
            <a:ext cx="1828800" cy="237744"/>
          </a:xfrm>
          <a:prstGeom prst="rect">
            <a:avLst/>
          </a:prstGeom>
          <a:noFill/>
          <a:ln/>
        </p:spPr>
        <p:txBody>
          <a:bodyPr wrap="square" lIns="0" tIns="0" rIns="0" bIns="0" rtlCol="0" anchor="ctr"/>
          <a:lstStyle/>
          <a:p>
            <a:pPr marL="0" indent="0">
              <a:buNone/>
            </a:pPr>
            <a:r>
              <a:rPr lang="en-US" sz="950" b="1" dirty="0">
                <a:solidFill>
                  <a:srgbClr val="0E3B38"/>
                </a:solidFill>
                <a:latin typeface="Arial Black" pitchFamily="34" charset="0"/>
                <a:ea typeface="Arial Black" pitchFamily="34" charset="-122"/>
                <a:cs typeface="Arial Black" pitchFamily="34" charset="-120"/>
              </a:rPr>
              <a:t>Sales Projections</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077456" y="5541264"/>
          <a:ext cx="4709160" cy="1036320"/>
        </p:xfrm>
        <a:graphic>
          <a:graphicData uri="http://schemas.openxmlformats.org/drawingml/2006/table">
            <a:tbl>
              <a:tblPr/>
              <a:tblGrid>
                <a:gridCol w="16367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tblGrid>
              <a:tr h="169164">
                <a:tc>
                  <a:txBody>
                    <a:bodyPr/>
                    <a:lstStyle/>
                    <a:p>
                      <a:pPr marL="0" indent="0">
                        <a:buNone/>
                      </a:pP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YR1</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YR2</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YR3</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extLst>
                  <a:ext uri="{0D108BD9-81ED-4DB2-BD59-A6C34878D82A}">
                    <a16:rowId xmlns:a16="http://schemas.microsoft.com/office/drawing/2014/main" val="10000"/>
                  </a:ext>
                </a:extLst>
              </a:tr>
              <a:tr h="169164">
                <a:tc>
                  <a:txBody>
                    <a:bodyPr/>
                    <a:lstStyle/>
                    <a:p>
                      <a:pPr marL="0" indent="0">
                        <a:buNone/>
                      </a:pPr>
                      <a:r>
                        <a:rPr lang="en-US" sz="800" dirty="0">
                          <a:solidFill>
                            <a:srgbClr val="1F2E2C"/>
                          </a:solidFill>
                          <a:latin typeface="Arial" pitchFamily="34" charset="0"/>
                          <a:ea typeface="Arial" pitchFamily="34" charset="-122"/>
                          <a:cs typeface="Arial" pitchFamily="34" charset="-120"/>
                        </a:rPr>
                        <a:t>Stations</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9164">
                <a:tc>
                  <a:txBody>
                    <a:bodyPr/>
                    <a:lstStyle/>
                    <a:p>
                      <a:pPr marL="0" indent="0">
                        <a:buNone/>
                      </a:pPr>
                      <a:r>
                        <a:rPr lang="en-US" sz="800" dirty="0">
                          <a:solidFill>
                            <a:srgbClr val="1F2E2C"/>
                          </a:solidFill>
                          <a:latin typeface="Arial" pitchFamily="34" charset="0"/>
                          <a:ea typeface="Arial" pitchFamily="34" charset="-122"/>
                          <a:cs typeface="Arial" pitchFamily="34" charset="-120"/>
                        </a:rPr>
                        <a:t>Sales Units</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1,800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5,400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9164">
                <a:tc>
                  <a:txBody>
                    <a:bodyPr/>
                    <a:lstStyle/>
                    <a:p>
                      <a:pPr marL="0" indent="0">
                        <a:buNone/>
                      </a:pPr>
                      <a:r>
                        <a:rPr lang="en-US" sz="800" dirty="0">
                          <a:solidFill>
                            <a:srgbClr val="1F2E2C"/>
                          </a:solidFill>
                          <a:latin typeface="Arial" pitchFamily="34" charset="0"/>
                          <a:ea typeface="Arial" pitchFamily="34" charset="-122"/>
                          <a:cs typeface="Arial" pitchFamily="34" charset="-120"/>
                        </a:rPr>
                        <a:t>Per Unit Price</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6,000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6,000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6,500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9164">
                <a:tc>
                  <a:txBody>
                    <a:bodyPr/>
                    <a:lstStyle/>
                    <a:p>
                      <a:pPr marL="0" indent="0">
                        <a:buNone/>
                      </a:pPr>
                      <a:r>
                        <a:rPr lang="en-US" sz="800" dirty="0">
                          <a:solidFill>
                            <a:srgbClr val="1F2E2C"/>
                          </a:solidFill>
                          <a:latin typeface="Arial" pitchFamily="34" charset="0"/>
                          <a:ea typeface="Arial" pitchFamily="34" charset="-122"/>
                          <a:cs typeface="Arial" pitchFamily="34" charset="-120"/>
                        </a:rPr>
                        <a:t>Per Unit Contribution</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3,300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3,400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F2E2C"/>
                          </a:solidFill>
                          <a:latin typeface="Arial" pitchFamily="34" charset="0"/>
                          <a:ea typeface="Arial" pitchFamily="34" charset="-122"/>
                          <a:cs typeface="Arial" pitchFamily="34" charset="-120"/>
                        </a:rPr>
                        <a:t>Rs 3,600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9164">
                <a:tc>
                  <a:txBody>
                    <a:bodyPr/>
                    <a:lstStyle/>
                    <a:p>
                      <a:pPr marL="0" indent="0">
                        <a:buNone/>
                      </a:pPr>
                      <a:r>
                        <a:rPr lang="en-US" sz="800" b="1" dirty="0">
                          <a:solidFill>
                            <a:srgbClr val="1F2E2C"/>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marL="0" indent="0" algn="ctr">
                        <a:buNone/>
                      </a:pPr>
                      <a:r>
                        <a:rPr lang="en-US" sz="800" b="1" dirty="0">
                          <a:solidFill>
                            <a:srgbClr val="1F2E2C"/>
                          </a:solidFill>
                          <a:latin typeface="Arial" pitchFamily="34" charset="0"/>
                          <a:ea typeface="Arial" pitchFamily="34" charset="-122"/>
                          <a:cs typeface="Arial" pitchFamily="34" charset="-120"/>
                        </a:rPr>
                        <a:t>Rs 3.2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marL="0" indent="0" algn="ctr">
                        <a:buNone/>
                      </a:pPr>
                      <a:r>
                        <a:rPr lang="en-US" sz="800" b="1" dirty="0">
                          <a:solidFill>
                            <a:srgbClr val="1F2E2C"/>
                          </a:solidFill>
                          <a:latin typeface="Arial" pitchFamily="34" charset="0"/>
                          <a:ea typeface="Arial" pitchFamily="34" charset="-122"/>
                          <a:cs typeface="Arial" pitchFamily="34" charset="-120"/>
                        </a:rPr>
                        <a:t>Rs 13.0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marL="0" indent="0" algn="ctr">
                        <a:buNone/>
                      </a:pPr>
                      <a:r>
                        <a:rPr lang="en-US" sz="800" b="1" dirty="0">
                          <a:solidFill>
                            <a:srgbClr val="1F2E2C"/>
                          </a:solidFill>
                          <a:latin typeface="Arial" pitchFamily="34" charset="0"/>
                          <a:ea typeface="Arial" pitchFamily="34" charset="-122"/>
                          <a:cs typeface="Arial" pitchFamily="34" charset="-120"/>
                        </a:rPr>
                        <a:t>Rs 42.1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marL="0" indent="0">
              <a:buNone/>
            </a:pPr>
            <a:r>
              <a:rPr lang="en-US" sz="2700" b="1" dirty="0">
                <a:solidFill>
                  <a:srgbClr val="0E3B38"/>
                </a:solidFill>
                <a:latin typeface="Cambria" pitchFamily="34" charset="0"/>
                <a:ea typeface="Cambria" pitchFamily="34" charset="-122"/>
                <a:cs typeface="Cambria" pitchFamily="34" charset="-120"/>
              </a:rPr>
              <a:t>Customer Evidence and Value Proposition</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marL="0" indent="0">
              <a:buNone/>
            </a:pPr>
            <a:r>
              <a:rPr lang="en-US" sz="1050" i="1" dirty="0">
                <a:solidFill>
                  <a:srgbClr val="5A6B68"/>
                </a:solidFill>
                <a:latin typeface="Arial" pitchFamily="34" charset="0"/>
                <a:ea typeface="Arial" pitchFamily="34" charset="-122"/>
                <a:cs typeface="Arial" pitchFamily="34" charset="-120"/>
              </a:rPr>
              <a:t>Based on 23 face to face interviews with Rapido riders, Instamart delivery partners, CNG auto and e-rickshaw drivers, and independent gig riders in Mumbai</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marL="0" indent="0" algn="r">
              <a:buNone/>
            </a:pPr>
            <a:r>
              <a:rPr lang="en-US" sz="850" dirty="0">
                <a:solidFill>
                  <a:srgbClr val="5A6B68"/>
                </a:solidFill>
                <a:latin typeface="Arial" pitchFamily="34" charset="0"/>
                <a:ea typeface="Arial" pitchFamily="34" charset="-122"/>
                <a:cs typeface="Arial" pitchFamily="34" charset="-120"/>
              </a:rPr>
              <a:t>Team  - </a:t>
            </a:r>
            <a:r>
              <a:rPr lang="en-US" sz="850" dirty="0" err="1">
                <a:solidFill>
                  <a:srgbClr val="5A6B68"/>
                </a:solidFill>
                <a:latin typeface="Arial" pitchFamily="34" charset="0"/>
                <a:ea typeface="Arial" pitchFamily="34" charset="-122"/>
                <a:cs typeface="Arial" pitchFamily="34" charset="-120"/>
              </a:rPr>
              <a:t>VoltGo</a:t>
            </a:r>
            <a:r>
              <a:rPr lang="en-US" sz="850" dirty="0">
                <a:solidFill>
                  <a:srgbClr val="5A6B68"/>
                </a:solidFill>
                <a:latin typeface="Arial" pitchFamily="34" charset="0"/>
                <a:ea typeface="Arial" pitchFamily="34" charset="-122"/>
                <a:cs typeface="Arial" pitchFamily="34" charset="-120"/>
              </a:rPr>
              <a:t> |  EV Battery Swapping Network   |   ENT609 2025AUT</a:t>
            </a:r>
            <a:endParaRPr lang="en-US" sz="850" dirty="0"/>
          </a:p>
        </p:txBody>
      </p:sp>
      <p:sp>
        <p:nvSpPr>
          <p:cNvPr id="5" name="Shape 3"/>
          <p:cNvSpPr/>
          <p:nvPr/>
        </p:nvSpPr>
        <p:spPr>
          <a:xfrm>
            <a:off x="457200" y="1024128"/>
            <a:ext cx="3639312"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6" name="Text 4"/>
          <p:cNvSpPr txBox="1"/>
          <p:nvPr/>
        </p:nvSpPr>
        <p:spPr>
          <a:xfrm>
            <a:off x="566928" y="1069848"/>
            <a:ext cx="3419856"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23 interviews</a:t>
            </a:r>
            <a:endParaRPr lang="en-US" sz="2000" dirty="0"/>
          </a:p>
        </p:txBody>
      </p:sp>
      <p:sp>
        <p:nvSpPr>
          <p:cNvPr id="7" name="Text 5"/>
          <p:cNvSpPr txBox="1"/>
          <p:nvPr/>
        </p:nvSpPr>
        <p:spPr>
          <a:xfrm>
            <a:off x="566928" y="1435608"/>
            <a:ext cx="3419856"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5 segments: bike taxi, delivery, CNG auto, e-rickshaw, gig riders</a:t>
            </a:r>
            <a:endParaRPr lang="en-US" sz="950" dirty="0"/>
          </a:p>
        </p:txBody>
      </p:sp>
      <p:sp>
        <p:nvSpPr>
          <p:cNvPr id="8" name="Shape 6"/>
          <p:cNvSpPr/>
          <p:nvPr/>
        </p:nvSpPr>
        <p:spPr>
          <a:xfrm>
            <a:off x="4279392" y="1024128"/>
            <a:ext cx="3639312"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9" name="Text 7"/>
          <p:cNvSpPr txBox="1"/>
          <p:nvPr/>
        </p:nvSpPr>
        <p:spPr>
          <a:xfrm>
            <a:off x="4389120" y="1069848"/>
            <a:ext cx="3419856"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15 of 23</a:t>
            </a:r>
            <a:endParaRPr lang="en-US" sz="2000" dirty="0"/>
          </a:p>
        </p:txBody>
      </p:sp>
      <p:sp>
        <p:nvSpPr>
          <p:cNvPr id="10" name="Text 8"/>
          <p:cNvSpPr txBox="1"/>
          <p:nvPr/>
        </p:nvSpPr>
        <p:spPr>
          <a:xfrm>
            <a:off x="4389120" y="1435608"/>
            <a:ext cx="3419856"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ready to switch or adopt swap charging</a:t>
            </a:r>
            <a:endParaRPr lang="en-US" sz="950" dirty="0"/>
          </a:p>
        </p:txBody>
      </p:sp>
      <p:sp>
        <p:nvSpPr>
          <p:cNvPr id="11" name="Shape 9"/>
          <p:cNvSpPr/>
          <p:nvPr/>
        </p:nvSpPr>
        <p:spPr>
          <a:xfrm>
            <a:off x="8101584" y="1024128"/>
            <a:ext cx="3630168"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12" name="Text 10"/>
          <p:cNvSpPr txBox="1"/>
          <p:nvPr/>
        </p:nvSpPr>
        <p:spPr>
          <a:xfrm>
            <a:off x="8211312" y="1069848"/>
            <a:ext cx="3410712"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Rs 6,000</a:t>
            </a:r>
            <a:endParaRPr lang="en-US" sz="2000" dirty="0"/>
          </a:p>
        </p:txBody>
      </p:sp>
      <p:sp>
        <p:nvSpPr>
          <p:cNvPr id="13" name="Text 11"/>
          <p:cNvSpPr txBox="1"/>
          <p:nvPr/>
        </p:nvSpPr>
        <p:spPr>
          <a:xfrm>
            <a:off x="8211312" y="1435608"/>
            <a:ext cx="3410712"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price point confirmed by four riders</a:t>
            </a:r>
            <a:endParaRPr lang="en-US" sz="950" dirty="0"/>
          </a:p>
        </p:txBody>
      </p:sp>
      <p:sp>
        <p:nvSpPr>
          <p:cNvPr id="14" name="Shape 12"/>
          <p:cNvSpPr/>
          <p:nvPr/>
        </p:nvSpPr>
        <p:spPr>
          <a:xfrm>
            <a:off x="457200" y="1938528"/>
            <a:ext cx="3639312" cy="2395728"/>
          </a:xfrm>
          <a:prstGeom prst="roundRect">
            <a:avLst>
              <a:gd name="adj" fmla="val 267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5" name="Shape 13"/>
          <p:cNvSpPr/>
          <p:nvPr/>
        </p:nvSpPr>
        <p:spPr>
          <a:xfrm>
            <a:off x="566928" y="2048256"/>
            <a:ext cx="274320" cy="274320"/>
          </a:xfrm>
          <a:prstGeom prst="ellipse">
            <a:avLst/>
          </a:prstGeom>
          <a:solidFill>
            <a:srgbClr val="196B67"/>
          </a:solidFill>
          <a:ln w="12700">
            <a:solidFill>
              <a:srgbClr val="196B67"/>
            </a:solidFill>
            <a:prstDash val="solid"/>
          </a:ln>
        </p:spPr>
      </p:sp>
      <p:sp>
        <p:nvSpPr>
          <p:cNvPr id="16" name="Text 14"/>
          <p:cNvSpPr txBox="1"/>
          <p:nvPr/>
        </p:nvSpPr>
        <p:spPr>
          <a:xfrm>
            <a:off x="566928" y="20482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7" name="Text 15"/>
          <p:cNvSpPr txBox="1"/>
          <p:nvPr/>
        </p:nvSpPr>
        <p:spPr>
          <a:xfrm>
            <a:off x="914400" y="2029968"/>
            <a:ext cx="3072384"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Customer and Market Profile</a:t>
            </a:r>
            <a:endParaRPr lang="en-US" sz="1350" dirty="0"/>
          </a:p>
        </p:txBody>
      </p:sp>
      <p:sp>
        <p:nvSpPr>
          <p:cNvPr id="18" name="Text 16"/>
          <p:cNvSpPr txBox="1"/>
          <p:nvPr/>
        </p:nvSpPr>
        <p:spPr>
          <a:xfrm>
            <a:off x="603504" y="2432304"/>
            <a:ext cx="3346704"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Bike taxi riders, quick commerce delivery partners, CNG auto and e-rickshaw drivers, age 20 to 40</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Daily running 60 to 150 km, monthly earning Rs 18,000 to 35,000</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Reached through platform rider hubs and WhatsApp groups</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India crossed 3,000 swap stations and USD 325 million investment by mid 2026 [1]</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Mumbai serviceable base of commercial 2W and 3W fleets</a:t>
            </a:r>
            <a:endParaRPr lang="en-US" sz="950" dirty="0"/>
          </a:p>
        </p:txBody>
      </p:sp>
      <p:sp>
        <p:nvSpPr>
          <p:cNvPr id="19" name="Shape 17"/>
          <p:cNvSpPr/>
          <p:nvPr/>
        </p:nvSpPr>
        <p:spPr>
          <a:xfrm>
            <a:off x="4279392" y="1938528"/>
            <a:ext cx="3639312" cy="2395728"/>
          </a:xfrm>
          <a:prstGeom prst="roundRect">
            <a:avLst>
              <a:gd name="adj" fmla="val 267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20" name="Shape 18"/>
          <p:cNvSpPr/>
          <p:nvPr/>
        </p:nvSpPr>
        <p:spPr>
          <a:xfrm>
            <a:off x="4389120" y="2048256"/>
            <a:ext cx="274320" cy="274320"/>
          </a:xfrm>
          <a:prstGeom prst="ellipse">
            <a:avLst/>
          </a:prstGeom>
          <a:solidFill>
            <a:srgbClr val="196B67"/>
          </a:solidFill>
          <a:ln w="12700">
            <a:solidFill>
              <a:srgbClr val="196B67"/>
            </a:solidFill>
            <a:prstDash val="solid"/>
          </a:ln>
        </p:spPr>
      </p:sp>
      <p:sp>
        <p:nvSpPr>
          <p:cNvPr id="21" name="Text 19"/>
          <p:cNvSpPr txBox="1"/>
          <p:nvPr/>
        </p:nvSpPr>
        <p:spPr>
          <a:xfrm>
            <a:off x="4389120" y="20482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txBox="1"/>
          <p:nvPr/>
        </p:nvSpPr>
        <p:spPr>
          <a:xfrm>
            <a:off x="4736592" y="2029968"/>
            <a:ext cx="3072384"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Customer Unmet Need</a:t>
            </a:r>
            <a:endParaRPr lang="en-US" sz="1350" dirty="0"/>
          </a:p>
        </p:txBody>
      </p:sp>
      <p:sp>
        <p:nvSpPr>
          <p:cNvPr id="23" name="Text 21"/>
          <p:cNvSpPr txBox="1"/>
          <p:nvPr/>
        </p:nvSpPr>
        <p:spPr>
          <a:xfrm>
            <a:off x="4425696" y="2432304"/>
            <a:ext cx="3346704"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Charging downtime directly cuts earning hours during the shift</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Nearest swap station was up to 10 km away, so riders lost trips (Customer 1)</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Rental EV at Rs 7,000 to 9,000 per month is unaffordable, so riders returned to petrol (Customer 4)</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Riders want to own the vehicle and build an asset, not stay on rent</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Slum housing has no room to charge inside, and outside power is unreliable</a:t>
            </a:r>
            <a:endParaRPr lang="en-US" sz="950" dirty="0"/>
          </a:p>
        </p:txBody>
      </p:sp>
      <p:sp>
        <p:nvSpPr>
          <p:cNvPr id="24" name="Shape 22"/>
          <p:cNvSpPr/>
          <p:nvPr/>
        </p:nvSpPr>
        <p:spPr>
          <a:xfrm>
            <a:off x="8101584" y="1938528"/>
            <a:ext cx="3630168" cy="2395728"/>
          </a:xfrm>
          <a:prstGeom prst="roundRect">
            <a:avLst>
              <a:gd name="adj" fmla="val 267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25" name="Shape 23"/>
          <p:cNvSpPr/>
          <p:nvPr/>
        </p:nvSpPr>
        <p:spPr>
          <a:xfrm>
            <a:off x="8211312" y="2048256"/>
            <a:ext cx="274320" cy="274320"/>
          </a:xfrm>
          <a:prstGeom prst="ellipse">
            <a:avLst/>
          </a:prstGeom>
          <a:solidFill>
            <a:srgbClr val="196B67"/>
          </a:solidFill>
          <a:ln w="12700">
            <a:solidFill>
              <a:srgbClr val="196B67"/>
            </a:solidFill>
            <a:prstDash val="solid"/>
          </a:ln>
        </p:spPr>
      </p:sp>
      <p:sp>
        <p:nvSpPr>
          <p:cNvPr id="26" name="Text 24"/>
          <p:cNvSpPr txBox="1"/>
          <p:nvPr/>
        </p:nvSpPr>
        <p:spPr>
          <a:xfrm>
            <a:off x="8211312" y="20482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8558784" y="2029968"/>
            <a:ext cx="3063240"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Current Option and Cost</a:t>
            </a:r>
            <a:endParaRPr lang="en-US" sz="1350" dirty="0"/>
          </a:p>
        </p:txBody>
      </p:sp>
      <p:sp>
        <p:nvSpPr>
          <p:cNvPr id="28" name="Text 26"/>
          <p:cNvSpPr txBox="1"/>
          <p:nvPr/>
        </p:nvSpPr>
        <p:spPr>
          <a:xfrm>
            <a:off x="8247888" y="2432304"/>
            <a:ext cx="3337560"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Petrol bike: Rs 210 to 395 per day of fuel</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CNG auto: Rs 325 to 390 per day plus 20 to 45 minutes in the refuel queue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Rental EV with unlimited swapping: Rs 7,000 to 9,000 per month, vehicle not owned</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Pay per swap networks charge Rs 120 to 250 a swap [2]</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Home charging: 4 to 6 hours, not possible mid shift</a:t>
            </a:r>
            <a:endParaRPr lang="en-US" sz="950" dirty="0"/>
          </a:p>
        </p:txBody>
      </p:sp>
      <p:sp>
        <p:nvSpPr>
          <p:cNvPr id="29" name="Shape 27"/>
          <p:cNvSpPr/>
          <p:nvPr/>
        </p:nvSpPr>
        <p:spPr>
          <a:xfrm>
            <a:off x="457200" y="4498848"/>
            <a:ext cx="11274552" cy="1975104"/>
          </a:xfrm>
          <a:prstGeom prst="roundRect">
            <a:avLst>
              <a:gd name="adj" fmla="val 3241"/>
            </a:avLst>
          </a:prstGeom>
          <a:solidFill>
            <a:srgbClr val="CFFDEB"/>
          </a:solidFill>
          <a:ln w="12700">
            <a:solidFill>
              <a:srgbClr val="BFD9D2"/>
            </a:solidFill>
            <a:prstDash val="solid"/>
          </a:ln>
          <a:effectLst>
            <a:outerShdw blurRad="76200" dist="12700" dir="5400000" algn="bl" rotWithShape="0">
              <a:srgbClr val="AABEB9">
                <a:alpha val="30000"/>
              </a:srgbClr>
            </a:outerShdw>
          </a:effectLst>
        </p:spPr>
      </p:sp>
      <p:sp>
        <p:nvSpPr>
          <p:cNvPr id="30" name="Text 28"/>
          <p:cNvSpPr txBox="1"/>
          <p:nvPr/>
        </p:nvSpPr>
        <p:spPr>
          <a:xfrm>
            <a:off x="621792" y="4590288"/>
            <a:ext cx="4572000"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Value Proposition</a:t>
            </a:r>
            <a:endParaRPr lang="en-US" sz="1350" dirty="0"/>
          </a:p>
        </p:txBody>
      </p:sp>
      <p:sp>
        <p:nvSpPr>
          <p:cNvPr id="31" name="Text 29"/>
          <p:cNvSpPr txBox="1"/>
          <p:nvPr/>
        </p:nvSpPr>
        <p:spPr>
          <a:xfrm>
            <a:off x="658368" y="4974336"/>
            <a:ext cx="10881360" cy="1371600"/>
          </a:xfrm>
          <a:prstGeom prst="rect">
            <a:avLst/>
          </a:prstGeom>
          <a:noFill/>
          <a:ln/>
        </p:spPr>
        <p:txBody>
          <a:bodyPr wrap="square" lIns="0" tIns="0" rIns="0" bIns="0" rtlCol="0" anchor="t"/>
          <a:lstStyle/>
          <a:p>
            <a:pPr marL="0" indent="0">
              <a:lnSpc>
                <a:spcPts val="1500"/>
              </a:lnSpc>
              <a:buNone/>
            </a:pPr>
            <a:r>
              <a:rPr lang="en-US" sz="1100" b="1" dirty="0">
                <a:solidFill>
                  <a:srgbClr val="196B67"/>
                </a:solidFill>
                <a:latin typeface="Arial" pitchFamily="34" charset="0"/>
                <a:ea typeface="Arial" pitchFamily="34" charset="-122"/>
                <a:cs typeface="Arial" pitchFamily="34" charset="-120"/>
              </a:rPr>
              <a:t>For  </a:t>
            </a:r>
            <a:r>
              <a:rPr lang="en-US" sz="1100" dirty="0">
                <a:solidFill>
                  <a:srgbClr val="1F2E2C"/>
                </a:solidFill>
                <a:latin typeface="Arial" pitchFamily="34" charset="0"/>
                <a:ea typeface="Arial" pitchFamily="34" charset="-122"/>
                <a:cs typeface="Arial" pitchFamily="34" charset="-120"/>
              </a:rPr>
              <a:t>delivery riders, bike taxi riders and auto drivers in Mumbai who run 80 to 150 km every day</a:t>
            </a:r>
            <a:endParaRPr lang="en-US" sz="1100" dirty="0"/>
          </a:p>
          <a:p>
            <a:pPr marL="0" indent="0">
              <a:lnSpc>
                <a:spcPts val="1500"/>
              </a:lnSpc>
              <a:buNone/>
            </a:pPr>
            <a:r>
              <a:rPr lang="en-US" sz="1100" b="1" dirty="0">
                <a:solidFill>
                  <a:srgbClr val="196B67"/>
                </a:solidFill>
                <a:latin typeface="Arial" pitchFamily="34" charset="0"/>
                <a:ea typeface="Arial" pitchFamily="34" charset="-122"/>
                <a:cs typeface="Arial" pitchFamily="34" charset="-120"/>
              </a:rPr>
              <a:t>Who  </a:t>
            </a:r>
            <a:r>
              <a:rPr lang="en-US" sz="1100" dirty="0">
                <a:solidFill>
                  <a:srgbClr val="1F2E2C"/>
                </a:solidFill>
                <a:latin typeface="Arial" pitchFamily="34" charset="0"/>
                <a:ea typeface="Arial" pitchFamily="34" charset="-122"/>
                <a:cs typeface="Arial" pitchFamily="34" charset="-120"/>
              </a:rPr>
              <a:t>lose earning hours to charging and cannot afford a rental EV at Rs 7,000 to 9,000 a month</a:t>
            </a:r>
            <a:endParaRPr lang="en-US" sz="1100" dirty="0"/>
          </a:p>
          <a:p>
            <a:pPr marL="0" indent="0">
              <a:lnSpc>
                <a:spcPts val="1500"/>
              </a:lnSpc>
              <a:buNone/>
            </a:pPr>
            <a:r>
              <a:rPr lang="en-US" sz="1100" b="1" dirty="0">
                <a:solidFill>
                  <a:srgbClr val="196B67"/>
                </a:solidFill>
                <a:latin typeface="Arial" pitchFamily="34" charset="0"/>
                <a:ea typeface="Arial" pitchFamily="34" charset="-122"/>
                <a:cs typeface="Arial" pitchFamily="34" charset="-120"/>
              </a:rPr>
              <a:t>We </a:t>
            </a:r>
            <a:r>
              <a:rPr lang="en-US" sz="1100" dirty="0">
                <a:solidFill>
                  <a:srgbClr val="1F2E2C"/>
                </a:solidFill>
                <a:latin typeface="Arial" pitchFamily="34" charset="0"/>
                <a:ea typeface="Arial" pitchFamily="34" charset="-122"/>
                <a:cs typeface="Arial" pitchFamily="34" charset="-120"/>
              </a:rPr>
              <a:t>operate a city wide battery swapping network hosted at partner petrol pumps</a:t>
            </a:r>
            <a:endParaRPr lang="en-US" sz="1100" dirty="0"/>
          </a:p>
          <a:p>
            <a:pPr marL="0" indent="0">
              <a:lnSpc>
                <a:spcPts val="1500"/>
              </a:lnSpc>
              <a:buNone/>
            </a:pPr>
            <a:r>
              <a:rPr lang="en-US" sz="1100" b="1" dirty="0">
                <a:solidFill>
                  <a:srgbClr val="196B67"/>
                </a:solidFill>
                <a:latin typeface="Arial" pitchFamily="34" charset="0"/>
                <a:ea typeface="Arial" pitchFamily="34" charset="-122"/>
                <a:cs typeface="Arial" pitchFamily="34" charset="-120"/>
              </a:rPr>
              <a:t>Offer  </a:t>
            </a:r>
            <a:r>
              <a:rPr lang="en-US" sz="1100" dirty="0">
                <a:solidFill>
                  <a:srgbClr val="1F2E2C"/>
                </a:solidFill>
                <a:latin typeface="Arial" pitchFamily="34" charset="0"/>
                <a:ea typeface="Arial" pitchFamily="34" charset="-122"/>
                <a:cs typeface="Arial" pitchFamily="34" charset="-120"/>
              </a:rPr>
              <a:t>unlimited two to three minute swaps on the rider's own electric vehicle, with no rental and no battery ownership</a:t>
            </a:r>
            <a:endParaRPr lang="en-US" sz="1100" dirty="0"/>
          </a:p>
          <a:p>
            <a:pPr marL="0" indent="0">
              <a:lnSpc>
                <a:spcPts val="1500"/>
              </a:lnSpc>
              <a:buNone/>
            </a:pPr>
            <a:r>
              <a:rPr lang="en-US" sz="1100" b="1" dirty="0">
                <a:solidFill>
                  <a:srgbClr val="196B67"/>
                </a:solidFill>
                <a:latin typeface="Arial" pitchFamily="34" charset="0"/>
                <a:ea typeface="Arial" pitchFamily="34" charset="-122"/>
                <a:cs typeface="Arial" pitchFamily="34" charset="-120"/>
              </a:rPr>
              <a:t>Which is  </a:t>
            </a:r>
            <a:r>
              <a:rPr lang="en-US" sz="1100" dirty="0">
                <a:solidFill>
                  <a:srgbClr val="1F2E2C"/>
                </a:solidFill>
                <a:latin typeface="Arial" pitchFamily="34" charset="0"/>
                <a:ea typeface="Arial" pitchFamily="34" charset="-122"/>
                <a:cs typeface="Arial" pitchFamily="34" charset="-120"/>
              </a:rPr>
              <a:t>faster than every charging option and fixed in price, unlike petrol and CNG which keep rising</a:t>
            </a:r>
            <a:endParaRPr lang="en-US" sz="1100" dirty="0"/>
          </a:p>
          <a:p>
            <a:pPr marL="0" indent="0">
              <a:lnSpc>
                <a:spcPts val="1500"/>
              </a:lnSpc>
              <a:buNone/>
            </a:pPr>
            <a:r>
              <a:rPr lang="en-US" sz="1100" b="1" dirty="0">
                <a:solidFill>
                  <a:srgbClr val="196B67"/>
                </a:solidFill>
                <a:latin typeface="Arial" pitchFamily="34" charset="0"/>
                <a:ea typeface="Arial" pitchFamily="34" charset="-122"/>
                <a:cs typeface="Arial" pitchFamily="34" charset="-120"/>
              </a:rPr>
              <a:t>At  </a:t>
            </a:r>
            <a:r>
              <a:rPr lang="en-US" sz="1100" dirty="0">
                <a:solidFill>
                  <a:srgbClr val="1F2E2C"/>
                </a:solidFill>
                <a:latin typeface="Arial" pitchFamily="34" charset="0"/>
                <a:ea typeface="Arial" pitchFamily="34" charset="-122"/>
                <a:cs typeface="Arial" pitchFamily="34" charset="-120"/>
              </a:rPr>
              <a:t>Rs 6,000 per month, unlimited swaps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marL="0" indent="0">
              <a:buNone/>
            </a:pPr>
            <a:r>
              <a:rPr lang="en-US" sz="2700" b="1" dirty="0">
                <a:solidFill>
                  <a:srgbClr val="0E3B38"/>
                </a:solidFill>
                <a:latin typeface="Cambria" pitchFamily="34" charset="0"/>
                <a:ea typeface="Cambria" pitchFamily="34" charset="-122"/>
                <a:cs typeface="Cambria" pitchFamily="34" charset="-120"/>
              </a:rPr>
              <a:t>Why Electric Wins Over Petrol and CNG</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marL="0" indent="0">
              <a:buNone/>
            </a:pPr>
            <a:r>
              <a:rPr lang="en-US" sz="1050" i="1" dirty="0">
                <a:solidFill>
                  <a:srgbClr val="5A6B68"/>
                </a:solidFill>
                <a:latin typeface="Arial" pitchFamily="34" charset="0"/>
                <a:ea typeface="Arial" pitchFamily="34" charset="-122"/>
                <a:cs typeface="Arial" pitchFamily="34" charset="-120"/>
              </a:rPr>
              <a:t>Monthly running cost for a commercial user covering 2,800 km a month, at Mumbai prices of September 2026</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marL="0" indent="0" algn="r">
              <a:buNone/>
            </a:pPr>
            <a:r>
              <a:rPr lang="en-US" sz="850" dirty="0">
                <a:solidFill>
                  <a:srgbClr val="5A6B68"/>
                </a:solidFill>
                <a:latin typeface="Arial" pitchFamily="34" charset="0"/>
                <a:ea typeface="Arial" pitchFamily="34" charset="-122"/>
                <a:cs typeface="Arial" pitchFamily="34" charset="-120"/>
              </a:rPr>
              <a:t>Team - </a:t>
            </a:r>
            <a:r>
              <a:rPr lang="en-US" sz="850" dirty="0" err="1">
                <a:solidFill>
                  <a:srgbClr val="5A6B68"/>
                </a:solidFill>
                <a:latin typeface="Arial" pitchFamily="34" charset="0"/>
                <a:ea typeface="Arial" pitchFamily="34" charset="-122"/>
                <a:cs typeface="Arial" pitchFamily="34" charset="-120"/>
              </a:rPr>
              <a:t>VoltGo</a:t>
            </a:r>
            <a:r>
              <a:rPr lang="en-US" sz="850" dirty="0">
                <a:solidFill>
                  <a:srgbClr val="5A6B68"/>
                </a:solidFill>
                <a:latin typeface="Arial" pitchFamily="34" charset="0"/>
                <a:ea typeface="Arial" pitchFamily="34" charset="-122"/>
                <a:cs typeface="Arial" pitchFamily="34" charset="-120"/>
              </a:rPr>
              <a:t>   |   EV Battery Swapping Network   |   ENT609 2025AUT</a:t>
            </a:r>
            <a:endParaRPr lang="en-US" sz="850" dirty="0"/>
          </a:p>
        </p:txBody>
      </p:sp>
      <p:graphicFrame>
        <p:nvGraphicFramePr>
          <p:cNvPr id="5" name="Chart 0"/>
          <p:cNvGraphicFramePr/>
          <p:nvPr/>
        </p:nvGraphicFramePr>
        <p:xfrm>
          <a:off x="457200" y="1078992"/>
          <a:ext cx="59436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583680" y="1078992"/>
            <a:ext cx="1673352"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7" name="Text 4"/>
          <p:cNvSpPr txBox="1"/>
          <p:nvPr/>
        </p:nvSpPr>
        <p:spPr>
          <a:xfrm>
            <a:off x="6693408" y="1124712"/>
            <a:ext cx="1453896"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Rs 2.47</a:t>
            </a:r>
            <a:endParaRPr lang="en-US" sz="2000" dirty="0"/>
          </a:p>
        </p:txBody>
      </p:sp>
      <p:sp>
        <p:nvSpPr>
          <p:cNvPr id="8" name="Text 5"/>
          <p:cNvSpPr txBox="1"/>
          <p:nvPr/>
        </p:nvSpPr>
        <p:spPr>
          <a:xfrm>
            <a:off x="6693408" y="1490472"/>
            <a:ext cx="1453896"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petrol, per km</a:t>
            </a:r>
            <a:endParaRPr lang="en-US" sz="950" dirty="0"/>
          </a:p>
        </p:txBody>
      </p:sp>
      <p:sp>
        <p:nvSpPr>
          <p:cNvPr id="9" name="Shape 6"/>
          <p:cNvSpPr/>
          <p:nvPr/>
        </p:nvSpPr>
        <p:spPr>
          <a:xfrm>
            <a:off x="8412480" y="1078992"/>
            <a:ext cx="1673352"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10" name="Text 7"/>
          <p:cNvSpPr txBox="1"/>
          <p:nvPr/>
        </p:nvSpPr>
        <p:spPr>
          <a:xfrm>
            <a:off x="8522208" y="1124712"/>
            <a:ext cx="1453896"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Rs 3.26</a:t>
            </a:r>
            <a:endParaRPr lang="en-US" sz="2000" dirty="0"/>
          </a:p>
        </p:txBody>
      </p:sp>
      <p:sp>
        <p:nvSpPr>
          <p:cNvPr id="11" name="Text 8"/>
          <p:cNvSpPr txBox="1"/>
          <p:nvPr/>
        </p:nvSpPr>
        <p:spPr>
          <a:xfrm>
            <a:off x="8522208" y="1490472"/>
            <a:ext cx="1453896"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CNG auto, per km</a:t>
            </a:r>
            <a:endParaRPr lang="en-US" sz="950" dirty="0"/>
          </a:p>
        </p:txBody>
      </p:sp>
      <p:sp>
        <p:nvSpPr>
          <p:cNvPr id="12" name="Shape 9"/>
          <p:cNvSpPr/>
          <p:nvPr/>
        </p:nvSpPr>
        <p:spPr>
          <a:xfrm>
            <a:off x="10241280" y="1078992"/>
            <a:ext cx="1490472" cy="749808"/>
          </a:xfrm>
          <a:prstGeom prst="roundRect">
            <a:avLst>
              <a:gd name="adj" fmla="val 8537"/>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13" name="Text 10"/>
          <p:cNvSpPr txBox="1"/>
          <p:nvPr/>
        </p:nvSpPr>
        <p:spPr>
          <a:xfrm>
            <a:off x="10351008" y="1124712"/>
            <a:ext cx="1271016" cy="365760"/>
          </a:xfrm>
          <a:prstGeom prst="rect">
            <a:avLst/>
          </a:prstGeom>
          <a:noFill/>
          <a:ln/>
        </p:spPr>
        <p:txBody>
          <a:bodyPr wrap="square" lIns="0" tIns="0" rIns="0" bIns="0" rtlCol="0" anchor="ctr"/>
          <a:lstStyle/>
          <a:p>
            <a:pPr marL="0" indent="0">
              <a:buNone/>
            </a:pPr>
            <a:r>
              <a:rPr lang="en-US" sz="2000" b="1" dirty="0">
                <a:solidFill>
                  <a:srgbClr val="E08A00"/>
                </a:solidFill>
                <a:latin typeface="Cambria" pitchFamily="34" charset="0"/>
                <a:ea typeface="Cambria" pitchFamily="34" charset="-122"/>
                <a:cs typeface="Cambria" pitchFamily="34" charset="-120"/>
              </a:rPr>
              <a:t>Rs 0.44</a:t>
            </a:r>
            <a:endParaRPr lang="en-US" sz="2000" dirty="0"/>
          </a:p>
        </p:txBody>
      </p:sp>
      <p:sp>
        <p:nvSpPr>
          <p:cNvPr id="14" name="Text 11"/>
          <p:cNvSpPr txBox="1"/>
          <p:nvPr/>
        </p:nvSpPr>
        <p:spPr>
          <a:xfrm>
            <a:off x="10351008" y="1490472"/>
            <a:ext cx="1271016" cy="292608"/>
          </a:xfrm>
          <a:prstGeom prst="rect">
            <a:avLst/>
          </a:prstGeom>
          <a:noFill/>
          <a:ln/>
        </p:spPr>
        <p:txBody>
          <a:bodyPr wrap="square" lIns="0" tIns="0" rIns="0" bIns="0" rtlCol="0" anchor="ctr"/>
          <a:lstStyle/>
          <a:p>
            <a:pPr marL="0" indent="0">
              <a:buNone/>
            </a:pPr>
            <a:r>
              <a:rPr lang="en-US" sz="950" dirty="0">
                <a:solidFill>
                  <a:srgbClr val="0E3B38"/>
                </a:solidFill>
                <a:latin typeface="Arial" pitchFamily="34" charset="0"/>
                <a:ea typeface="Arial" pitchFamily="34" charset="-122"/>
                <a:cs typeface="Arial" pitchFamily="34" charset="-120"/>
              </a:rPr>
              <a:t>electric, per km</a:t>
            </a:r>
            <a:endParaRPr lang="en-US" sz="950" dirty="0"/>
          </a:p>
        </p:txBody>
      </p:sp>
      <p:sp>
        <p:nvSpPr>
          <p:cNvPr id="15" name="Shape 12"/>
          <p:cNvSpPr/>
          <p:nvPr/>
        </p:nvSpPr>
        <p:spPr>
          <a:xfrm>
            <a:off x="6583680" y="2011680"/>
            <a:ext cx="5148072" cy="3044952"/>
          </a:xfrm>
          <a:prstGeom prst="roundRect">
            <a:avLst>
              <a:gd name="adj" fmla="val 210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6" name="Shape 13"/>
          <p:cNvSpPr/>
          <p:nvPr/>
        </p:nvSpPr>
        <p:spPr>
          <a:xfrm>
            <a:off x="6711696" y="2121408"/>
            <a:ext cx="274320" cy="274320"/>
          </a:xfrm>
          <a:prstGeom prst="ellipse">
            <a:avLst/>
          </a:prstGeom>
          <a:solidFill>
            <a:srgbClr val="196B67"/>
          </a:solidFill>
          <a:ln w="12700">
            <a:solidFill>
              <a:srgbClr val="196B67"/>
            </a:solidFill>
            <a:prstDash val="solid"/>
          </a:ln>
        </p:spPr>
      </p:sp>
      <p:sp>
        <p:nvSpPr>
          <p:cNvPr id="17" name="Text 14"/>
          <p:cNvSpPr txBox="1"/>
          <p:nvPr/>
        </p:nvSpPr>
        <p:spPr>
          <a:xfrm>
            <a:off x="6711696" y="21214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5"/>
          <p:cNvSpPr txBox="1"/>
          <p:nvPr/>
        </p:nvSpPr>
        <p:spPr>
          <a:xfrm>
            <a:off x="7059168" y="2103120"/>
            <a:ext cx="4544568"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Three Reasons the Shift Makes Sense Now</a:t>
            </a:r>
            <a:endParaRPr lang="en-US" sz="1350" dirty="0"/>
          </a:p>
        </p:txBody>
      </p:sp>
      <p:sp>
        <p:nvSpPr>
          <p:cNvPr id="19" name="Text 16"/>
          <p:cNvSpPr txBox="1"/>
          <p:nvPr/>
        </p:nvSpPr>
        <p:spPr>
          <a:xfrm>
            <a:off x="6748272" y="2523744"/>
            <a:ext cx="4846320" cy="242316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Fuel is expensive and still climbing. Petrol in Mumbai is Rs 111.18 per litre [3]. MGL raised CNG by Rs 2 to Rs 88 per kg from 1 September 2026, and the rate has moved from Rs 80 to Rs 88 within a year [4].</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Energy cost falls by about 80 percent. An electric two wheeler uses roughly 40 Wh per km, which is Rs 0.44 per km at commercial tariff against Rs 2.47 per km on petrol.</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Downtime disappears. A swap takes two to three minutes against 20 to 45 minutes in a CNG queue and 4 to 6 hours of home charging [2].</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A fixed monthly price moves fuel price risk from the driver to us, which is the point our CNG auto customers responded to most strongly.</a:t>
            </a:r>
            <a:endParaRPr lang="en-US" sz="1000" dirty="0"/>
          </a:p>
        </p:txBody>
      </p:sp>
      <p:sp>
        <p:nvSpPr>
          <p:cNvPr id="20" name="Shape 17"/>
          <p:cNvSpPr/>
          <p:nvPr/>
        </p:nvSpPr>
        <p:spPr>
          <a:xfrm>
            <a:off x="457200" y="5193792"/>
            <a:ext cx="11274552" cy="1261872"/>
          </a:xfrm>
          <a:prstGeom prst="roundRect">
            <a:avLst>
              <a:gd name="adj" fmla="val 5072"/>
            </a:avLst>
          </a:prstGeom>
          <a:solidFill>
            <a:srgbClr val="E4F7EF"/>
          </a:solidFill>
          <a:ln w="12700">
            <a:solidFill>
              <a:srgbClr val="BFD9D2"/>
            </a:solidFill>
            <a:prstDash val="solid"/>
          </a:ln>
          <a:effectLst>
            <a:outerShdw blurRad="76200" dist="12700" dir="5400000" algn="bl" rotWithShape="0">
              <a:srgbClr val="AABEB9">
                <a:alpha val="30000"/>
              </a:srgbClr>
            </a:outerShdw>
          </a:effectLst>
        </p:spPr>
      </p:sp>
      <p:sp>
        <p:nvSpPr>
          <p:cNvPr id="21" name="Text 18"/>
          <p:cNvSpPr txBox="1"/>
          <p:nvPr/>
        </p:nvSpPr>
        <p:spPr>
          <a:xfrm>
            <a:off x="621792" y="5285232"/>
            <a:ext cx="4572000"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What This Means for the Rider</a:t>
            </a:r>
            <a:endParaRPr lang="en-US" sz="1350" dirty="0"/>
          </a:p>
        </p:txBody>
      </p:sp>
      <p:sp>
        <p:nvSpPr>
          <p:cNvPr id="22" name="Text 19"/>
          <p:cNvSpPr txBox="1"/>
          <p:nvPr/>
        </p:nvSpPr>
        <p:spPr>
          <a:xfrm>
            <a:off x="658368" y="5669280"/>
            <a:ext cx="10881360" cy="658368"/>
          </a:xfrm>
          <a:prstGeom prst="rect">
            <a:avLst/>
          </a:prstGeom>
          <a:noFill/>
          <a:ln/>
        </p:spPr>
        <p:txBody>
          <a:bodyPr wrap="square" lIns="0" tIns="0" rIns="0" bIns="0" rtlCol="0" anchor="ctr"/>
          <a:lstStyle/>
          <a:p>
            <a:pPr marL="0" indent="0">
              <a:lnSpc>
                <a:spcPts val="1400"/>
              </a:lnSpc>
              <a:buNone/>
            </a:pPr>
            <a:r>
              <a:rPr lang="en-US" sz="1050" dirty="0">
                <a:solidFill>
                  <a:srgbClr val="1F2E2C"/>
                </a:solidFill>
                <a:latin typeface="Arial" pitchFamily="34" charset="0"/>
                <a:ea typeface="Arial" pitchFamily="34" charset="-122"/>
                <a:cs typeface="Arial" pitchFamily="34" charset="-120"/>
              </a:rPr>
              <a:t>A CNG auto driver saves about Rs 3,100 a month and a petrol rider saves about Rs 900 a month, before counting the lower maintenance of an electric drivetrain. The subscription becomes clearly cheaper than pay per swap once the rider crosses roughly 140 km a day, which is why heavy commercial users are the right first customer.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marL="0" indent="0">
              <a:buNone/>
            </a:pPr>
            <a:r>
              <a:rPr lang="en-US" sz="2700" b="1" dirty="0">
                <a:solidFill>
                  <a:srgbClr val="0E3B38"/>
                </a:solidFill>
                <a:latin typeface="Cambria" pitchFamily="34" charset="0"/>
                <a:ea typeface="Cambria" pitchFamily="34" charset="-122"/>
                <a:cs typeface="Cambria" pitchFamily="34" charset="-120"/>
              </a:rPr>
              <a:t>Technical Design of the Swap Network</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marL="0" indent="0">
              <a:buNone/>
            </a:pPr>
            <a:r>
              <a:rPr lang="en-US" sz="1050" i="1" dirty="0">
                <a:solidFill>
                  <a:srgbClr val="5A6B68"/>
                </a:solidFill>
                <a:latin typeface="Arial" pitchFamily="34" charset="0"/>
                <a:ea typeface="Arial" pitchFamily="34" charset="-122"/>
                <a:cs typeface="Arial" pitchFamily="34" charset="-120"/>
              </a:rPr>
              <a:t>Reviewed with IIT Bombay Mechanical Department faculty, who confirmed two and three wheelers are technically easier to swap than four wheelers</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marL="0" indent="0" algn="r">
              <a:buNone/>
            </a:pPr>
            <a:r>
              <a:rPr lang="en-US" sz="850" dirty="0">
                <a:solidFill>
                  <a:srgbClr val="5A6B68"/>
                </a:solidFill>
                <a:latin typeface="Arial" pitchFamily="34" charset="0"/>
                <a:ea typeface="Arial" pitchFamily="34" charset="-122"/>
                <a:cs typeface="Arial" pitchFamily="34" charset="-120"/>
              </a:rPr>
              <a:t>Team - </a:t>
            </a:r>
            <a:r>
              <a:rPr lang="en-US" sz="850" dirty="0" err="1">
                <a:solidFill>
                  <a:srgbClr val="5A6B68"/>
                </a:solidFill>
                <a:latin typeface="Arial" pitchFamily="34" charset="0"/>
                <a:ea typeface="Arial" pitchFamily="34" charset="-122"/>
                <a:cs typeface="Arial" pitchFamily="34" charset="-120"/>
              </a:rPr>
              <a:t>VoltGo</a:t>
            </a:r>
            <a:r>
              <a:rPr lang="en-US" sz="850" dirty="0">
                <a:solidFill>
                  <a:srgbClr val="5A6B68"/>
                </a:solidFill>
                <a:latin typeface="Arial" pitchFamily="34" charset="0"/>
                <a:ea typeface="Arial" pitchFamily="34" charset="-122"/>
                <a:cs typeface="Arial" pitchFamily="34" charset="-120"/>
              </a:rPr>
              <a:t>  |   EV Battery Swapping Network   |   ENT609 2025AUT</a:t>
            </a:r>
            <a:endParaRPr lang="en-US" sz="850" dirty="0"/>
          </a:p>
        </p:txBody>
      </p:sp>
      <p:sp>
        <p:nvSpPr>
          <p:cNvPr id="5" name="Shape 3"/>
          <p:cNvSpPr/>
          <p:nvPr/>
        </p:nvSpPr>
        <p:spPr>
          <a:xfrm>
            <a:off x="457200" y="1078992"/>
            <a:ext cx="3639312" cy="2880360"/>
          </a:xfrm>
          <a:prstGeom prst="roundRect">
            <a:avLst>
              <a:gd name="adj" fmla="val 222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6" name="Shape 4"/>
          <p:cNvSpPr/>
          <p:nvPr/>
        </p:nvSpPr>
        <p:spPr>
          <a:xfrm>
            <a:off x="566928" y="1188720"/>
            <a:ext cx="274320" cy="274320"/>
          </a:xfrm>
          <a:prstGeom prst="ellipse">
            <a:avLst/>
          </a:prstGeom>
          <a:solidFill>
            <a:srgbClr val="196B67"/>
          </a:solidFill>
          <a:ln w="12700">
            <a:solidFill>
              <a:srgbClr val="196B67"/>
            </a:solidFill>
            <a:prstDash val="solid"/>
          </a:ln>
        </p:spPr>
      </p:sp>
      <p:sp>
        <p:nvSpPr>
          <p:cNvPr id="7" name="Text 5"/>
          <p:cNvSpPr txBox="1"/>
          <p:nvPr/>
        </p:nvSpPr>
        <p:spPr>
          <a:xfrm>
            <a:off x="566928"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914400" y="1170432"/>
            <a:ext cx="3072384"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Vehicle Coverage</a:t>
            </a:r>
            <a:endParaRPr lang="en-US" sz="1350" dirty="0"/>
          </a:p>
        </p:txBody>
      </p:sp>
      <p:sp>
        <p:nvSpPr>
          <p:cNvPr id="9" name="Text 7"/>
          <p:cNvSpPr txBox="1"/>
          <p:nvPr/>
        </p:nvSpPr>
        <p:spPr>
          <a:xfrm>
            <a:off x="603504" y="1572768"/>
            <a:ext cx="3346704"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L2 two wheeler, delivery and bike taxi: 2 modules, 4.0 kWh, about 100 km</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L5M electric auto, passenger: 4 modules, 8.0 kWh</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L5N electric auto, cargo: 4 modules, 8.0 kWh</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L3 e-rickshaw: 2 modules, optional second phase</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Not covered: cars, which need a robotic station costing crores</a:t>
            </a:r>
            <a:endParaRPr lang="en-US" sz="1000" dirty="0"/>
          </a:p>
        </p:txBody>
      </p:sp>
      <p:sp>
        <p:nvSpPr>
          <p:cNvPr id="10" name="Shape 8"/>
          <p:cNvSpPr/>
          <p:nvPr/>
        </p:nvSpPr>
        <p:spPr>
          <a:xfrm>
            <a:off x="4279392" y="1078992"/>
            <a:ext cx="3639312" cy="2880360"/>
          </a:xfrm>
          <a:prstGeom prst="roundRect">
            <a:avLst>
              <a:gd name="adj" fmla="val 222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1" name="Shape 9"/>
          <p:cNvSpPr/>
          <p:nvPr/>
        </p:nvSpPr>
        <p:spPr>
          <a:xfrm>
            <a:off x="4389120" y="1188720"/>
            <a:ext cx="274320" cy="274320"/>
          </a:xfrm>
          <a:prstGeom prst="ellipse">
            <a:avLst/>
          </a:prstGeom>
          <a:solidFill>
            <a:srgbClr val="196B67"/>
          </a:solidFill>
          <a:ln w="12700">
            <a:solidFill>
              <a:srgbClr val="196B67"/>
            </a:solidFill>
            <a:prstDash val="solid"/>
          </a:ln>
        </p:spPr>
      </p:sp>
      <p:sp>
        <p:nvSpPr>
          <p:cNvPr id="12" name="Text 10"/>
          <p:cNvSpPr txBox="1"/>
          <p:nvPr/>
        </p:nvSpPr>
        <p:spPr>
          <a:xfrm>
            <a:off x="4389120"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4736592" y="1170432"/>
            <a:ext cx="3072384"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Battery Module</a:t>
            </a:r>
            <a:endParaRPr lang="en-US" sz="1350" dirty="0"/>
          </a:p>
        </p:txBody>
      </p:sp>
      <p:sp>
        <p:nvSpPr>
          <p:cNvPr id="14" name="Text 12"/>
          <p:cNvSpPr txBox="1"/>
          <p:nvPr/>
        </p:nvSpPr>
        <p:spPr>
          <a:xfrm>
            <a:off x="4425696" y="1572768"/>
            <a:ext cx="3346704"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2.0 kWh, 48 V, LFP chemistry</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10 to 12 kg so a rider can lift it by hand</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Smart BMS with IoT tracking of charge cycles, temperature and state of health, now being validated against multiple battery and charger brands</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AIS 156 compliant for thermal safety</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Benchmark: industry swap packs run 1.5 to 2.5 kWh at 8 to 12 kg [2]</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Honda Activa e: uses two 1.5 kWh packs; Piaggio Ape E-Xtra uses four 1.915 kWh modules [5]</a:t>
            </a:r>
            <a:endParaRPr lang="en-US" sz="1000" dirty="0"/>
          </a:p>
        </p:txBody>
      </p:sp>
      <p:sp>
        <p:nvSpPr>
          <p:cNvPr id="15" name="Shape 13"/>
          <p:cNvSpPr/>
          <p:nvPr/>
        </p:nvSpPr>
        <p:spPr>
          <a:xfrm>
            <a:off x="8101584" y="1078992"/>
            <a:ext cx="3630168" cy="2880360"/>
          </a:xfrm>
          <a:prstGeom prst="roundRect">
            <a:avLst>
              <a:gd name="adj" fmla="val 2222"/>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6" name="Shape 14"/>
          <p:cNvSpPr/>
          <p:nvPr/>
        </p:nvSpPr>
        <p:spPr>
          <a:xfrm>
            <a:off x="8211312" y="1188720"/>
            <a:ext cx="274320" cy="274320"/>
          </a:xfrm>
          <a:prstGeom prst="ellipse">
            <a:avLst/>
          </a:prstGeom>
          <a:solidFill>
            <a:srgbClr val="196B67"/>
          </a:solidFill>
          <a:ln w="12700">
            <a:solidFill>
              <a:srgbClr val="196B67"/>
            </a:solidFill>
            <a:prstDash val="solid"/>
          </a:ln>
        </p:spPr>
      </p:sp>
      <p:sp>
        <p:nvSpPr>
          <p:cNvPr id="17" name="Text 15"/>
          <p:cNvSpPr txBox="1"/>
          <p:nvPr/>
        </p:nvSpPr>
        <p:spPr>
          <a:xfrm>
            <a:off x="8211312"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8558784" y="1170432"/>
            <a:ext cx="3063240"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Station and Charger</a:t>
            </a:r>
            <a:endParaRPr lang="en-US" sz="1350" dirty="0"/>
          </a:p>
        </p:txBody>
      </p:sp>
      <p:sp>
        <p:nvSpPr>
          <p:cNvPr id="19" name="Text 17"/>
          <p:cNvSpPr txBox="1"/>
          <p:nvPr/>
        </p:nvSpPr>
        <p:spPr>
          <a:xfrm>
            <a:off x="8247888" y="1572768"/>
            <a:ext cx="3337560"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20 slot cabinet, 1 kW charger per slot at 0.5C</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Module charges empty to full in about 2 hours</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Connected load 20 kW, served by a 25 kVA LT commercial connection</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Faculty confirmed portable chargers will not work, so a charger must sit at every station</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Rider swap time 2 to 3 minutes</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Footprint 100 to 150 sq ft at a partner petrol pump</a:t>
            </a:r>
            <a:endParaRPr lang="en-US" sz="1000" dirty="0"/>
          </a:p>
        </p:txBody>
      </p:sp>
      <p:sp>
        <p:nvSpPr>
          <p:cNvPr id="20" name="Shape 18"/>
          <p:cNvSpPr/>
          <p:nvPr/>
        </p:nvSpPr>
        <p:spPr>
          <a:xfrm>
            <a:off x="457200" y="4114800"/>
            <a:ext cx="11274552" cy="2057400"/>
          </a:xfrm>
          <a:prstGeom prst="roundRect">
            <a:avLst>
              <a:gd name="adj" fmla="val 3111"/>
            </a:avLst>
          </a:prstGeom>
          <a:solidFill>
            <a:srgbClr val="CFFDEB"/>
          </a:solidFill>
          <a:ln w="12700">
            <a:solidFill>
              <a:srgbClr val="BFD9D2"/>
            </a:solidFill>
            <a:prstDash val="solid"/>
          </a:ln>
          <a:effectLst>
            <a:outerShdw blurRad="76200" dist="12700" dir="5400000" algn="bl" rotWithShape="0">
              <a:srgbClr val="AABEB9">
                <a:alpha val="30000"/>
              </a:srgbClr>
            </a:outerShdw>
          </a:effectLst>
        </p:spPr>
      </p:sp>
      <p:sp>
        <p:nvSpPr>
          <p:cNvPr id="21" name="Shape 19"/>
          <p:cNvSpPr/>
          <p:nvPr/>
        </p:nvSpPr>
        <p:spPr>
          <a:xfrm>
            <a:off x="621792" y="4224528"/>
            <a:ext cx="274320" cy="274320"/>
          </a:xfrm>
          <a:prstGeom prst="ellipse">
            <a:avLst/>
          </a:prstGeom>
          <a:solidFill>
            <a:srgbClr val="196B67"/>
          </a:solidFill>
          <a:ln w="12700">
            <a:solidFill>
              <a:srgbClr val="196B67"/>
            </a:solidFill>
            <a:prstDash val="solid"/>
          </a:ln>
        </p:spPr>
      </p:sp>
      <p:sp>
        <p:nvSpPr>
          <p:cNvPr id="22" name="Text 20"/>
          <p:cNvSpPr txBox="1"/>
          <p:nvPr/>
        </p:nvSpPr>
        <p:spPr>
          <a:xfrm>
            <a:off x="621792" y="42245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1"/>
          <p:cNvSpPr txBox="1"/>
          <p:nvPr/>
        </p:nvSpPr>
        <p:spPr>
          <a:xfrm>
            <a:off x="969264" y="4206240"/>
            <a:ext cx="5596128"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The Interoperability Problem and Our Answer</a:t>
            </a:r>
            <a:endParaRPr lang="en-US" sz="1350" dirty="0"/>
          </a:p>
        </p:txBody>
      </p:sp>
      <p:sp>
        <p:nvSpPr>
          <p:cNvPr id="24" name="Text 22"/>
          <p:cNvSpPr txBox="1"/>
          <p:nvPr/>
        </p:nvSpPr>
        <p:spPr>
          <a:xfrm>
            <a:off x="658368" y="4608576"/>
            <a:ext cx="10881360" cy="1481328"/>
          </a:xfrm>
          <a:prstGeom prst="rect">
            <a:avLst/>
          </a:prstGeom>
          <a:noFill/>
          <a:ln/>
        </p:spPr>
        <p:txBody>
          <a:bodyPr wrap="square" lIns="0" tIns="0" rIns="0" bIns="0" rtlCol="0" anchor="t"/>
          <a:lstStyle/>
          <a:p>
            <a:pPr marL="0" indent="0">
              <a:lnSpc>
                <a:spcPts val="1400"/>
              </a:lnSpc>
              <a:buNone/>
            </a:pPr>
            <a:r>
              <a:rPr lang="en-US" sz="1050" b="1" dirty="0">
                <a:solidFill>
                  <a:srgbClr val="E08A00"/>
                </a:solidFill>
                <a:latin typeface="Arial" pitchFamily="34" charset="0"/>
                <a:ea typeface="Arial" pitchFamily="34" charset="-122"/>
                <a:cs typeface="Arial" pitchFamily="34" charset="-120"/>
              </a:rPr>
              <a:t>The problem.  </a:t>
            </a:r>
            <a:r>
              <a:rPr lang="en-US" sz="1050" dirty="0">
                <a:solidFill>
                  <a:srgbClr val="1F2E2C"/>
                </a:solidFill>
                <a:latin typeface="Arial" pitchFamily="34" charset="0"/>
                <a:ea typeface="Arial" pitchFamily="34" charset="-122"/>
                <a:cs typeface="Arial" pitchFamily="34" charset="-120"/>
              </a:rPr>
              <a:t>India has no binding interoperability mandate for swappable batteries yet. Every network today runs a proprietary pack, so a Battery Smart pack will not power a Honda Activa e: [2][6]. Ola, Ather, Bajaj and TVS do not offer network swapping on their consumer scooters at all [2]. This means most personally owned electric two wheelers cannot use any swap network as they are sold.</a:t>
            </a:r>
            <a:endParaRPr lang="en-US" sz="1050" dirty="0"/>
          </a:p>
          <a:p>
            <a:pPr marL="0" indent="0">
              <a:lnSpc>
                <a:spcPts val="1400"/>
              </a:lnSpc>
              <a:buNone/>
            </a:pPr>
            <a:r>
              <a:rPr lang="en-US" sz="1050" b="1" dirty="0">
                <a:solidFill>
                  <a:srgbClr val="E08A00"/>
                </a:solidFill>
                <a:latin typeface="Arial" pitchFamily="34" charset="0"/>
                <a:ea typeface="Arial" pitchFamily="34" charset="-122"/>
                <a:cs typeface="Arial" pitchFamily="34" charset="-120"/>
              </a:rPr>
              <a:t>Our answer.  </a:t>
            </a:r>
            <a:r>
              <a:rPr lang="en-US" sz="1050" dirty="0">
                <a:solidFill>
                  <a:srgbClr val="1F2E2C"/>
                </a:solidFill>
                <a:latin typeface="Arial" pitchFamily="34" charset="0"/>
                <a:ea typeface="Arial" pitchFamily="34" charset="-122"/>
                <a:cs typeface="Arial" pitchFamily="34" charset="-120"/>
              </a:rPr>
              <a:t>We standardise on a single 2 kWh module used in multiples, exactly as Piaggio and Sun Mobility already do across two and three wheelers [5]. We sign supply tie ups with fleet oriented OEMs whose vehicles accept this module, and we offer a retrofit bracket and connector kit for existing fleet EVs. Riders therefore keep owning their vehicle while we own and maintain every battery. We are also studying Indian and international charging standards and battery chemistries so every pack stays compatible across chargers and BMS makes.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marL="0" indent="0">
              <a:buNone/>
            </a:pPr>
            <a:r>
              <a:rPr lang="en-US" sz="2700" b="1" dirty="0">
                <a:solidFill>
                  <a:srgbClr val="0E3B38"/>
                </a:solidFill>
                <a:latin typeface="Cambria" pitchFamily="34" charset="0"/>
                <a:ea typeface="Cambria" pitchFamily="34" charset="-122"/>
                <a:cs typeface="Cambria" pitchFamily="34" charset="-120"/>
              </a:rPr>
              <a:t>Business Model, Go To Market and Projections</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marL="0" indent="0">
              <a:buNone/>
            </a:pPr>
            <a:r>
              <a:rPr lang="en-US" sz="1050" i="1" dirty="0">
                <a:solidFill>
                  <a:srgbClr val="5A6B68"/>
                </a:solidFill>
                <a:latin typeface="Arial" pitchFamily="34" charset="0"/>
                <a:ea typeface="Arial" pitchFamily="34" charset="-122"/>
                <a:cs typeface="Arial" pitchFamily="34" charset="-120"/>
              </a:rPr>
              <a:t>Unit economics of one 20 slot station serving about 45 subscribers, and the three year rollout plan</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marL="0" indent="0" algn="r">
              <a:buNone/>
            </a:pPr>
            <a:r>
              <a:rPr lang="en-US" sz="850" dirty="0">
                <a:solidFill>
                  <a:srgbClr val="5A6B68"/>
                </a:solidFill>
                <a:latin typeface="Arial" pitchFamily="34" charset="0"/>
                <a:ea typeface="Arial" pitchFamily="34" charset="-122"/>
                <a:cs typeface="Arial" pitchFamily="34" charset="-120"/>
              </a:rPr>
              <a:t>Team - </a:t>
            </a:r>
            <a:r>
              <a:rPr lang="en-US" sz="850" dirty="0" err="1">
                <a:solidFill>
                  <a:srgbClr val="5A6B68"/>
                </a:solidFill>
                <a:latin typeface="Arial" pitchFamily="34" charset="0"/>
                <a:ea typeface="Arial" pitchFamily="34" charset="-122"/>
                <a:cs typeface="Arial" pitchFamily="34" charset="-120"/>
              </a:rPr>
              <a:t>VoltGo</a:t>
            </a:r>
            <a:r>
              <a:rPr lang="en-US" sz="850" dirty="0">
                <a:solidFill>
                  <a:srgbClr val="5A6B68"/>
                </a:solidFill>
                <a:latin typeface="Arial" pitchFamily="34" charset="0"/>
                <a:ea typeface="Arial" pitchFamily="34" charset="-122"/>
                <a:cs typeface="Arial" pitchFamily="34" charset="-120"/>
              </a:rPr>
              <a:t> |   EV Battery Swapping Network   |   ENT609 2025AUT</a:t>
            </a:r>
            <a:endParaRPr lang="en-US" sz="850" dirty="0"/>
          </a:p>
        </p:txBody>
      </p:sp>
      <p:sp>
        <p:nvSpPr>
          <p:cNvPr id="5" name="Shape 3"/>
          <p:cNvSpPr/>
          <p:nvPr/>
        </p:nvSpPr>
        <p:spPr>
          <a:xfrm>
            <a:off x="457200" y="1078992"/>
            <a:ext cx="3931920" cy="3913632"/>
          </a:xfrm>
          <a:prstGeom prst="roundRect">
            <a:avLst>
              <a:gd name="adj" fmla="val 1636"/>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6" name="Shape 4"/>
          <p:cNvSpPr/>
          <p:nvPr/>
        </p:nvSpPr>
        <p:spPr>
          <a:xfrm>
            <a:off x="566928" y="1188720"/>
            <a:ext cx="274320" cy="274320"/>
          </a:xfrm>
          <a:prstGeom prst="ellipse">
            <a:avLst/>
          </a:prstGeom>
          <a:solidFill>
            <a:srgbClr val="196B67"/>
          </a:solidFill>
          <a:ln w="12700">
            <a:solidFill>
              <a:srgbClr val="196B67"/>
            </a:solidFill>
            <a:prstDash val="solid"/>
          </a:ln>
        </p:spPr>
      </p:sp>
      <p:sp>
        <p:nvSpPr>
          <p:cNvPr id="7" name="Text 5"/>
          <p:cNvSpPr txBox="1"/>
          <p:nvPr/>
        </p:nvSpPr>
        <p:spPr>
          <a:xfrm>
            <a:off x="566928"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914400" y="1170432"/>
            <a:ext cx="3364992"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Unit Cost and Price</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3504" y="1591056"/>
          <a:ext cx="3639312" cy="2962656"/>
        </p:xfrm>
        <a:graphic>
          <a:graphicData uri="http://schemas.openxmlformats.org/drawingml/2006/table">
            <a:tbl>
              <a:tblPr/>
              <a:tblGrid>
                <a:gridCol w="226771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246888">
                <a:tc>
                  <a:txBody>
                    <a:bodyPr/>
                    <a:lstStyle/>
                    <a:p>
                      <a:pPr marL="0" indent="0">
                        <a:buNone/>
                      </a:pPr>
                      <a:r>
                        <a:rPr lang="en-US" sz="900" b="1" dirty="0">
                          <a:solidFill>
                            <a:srgbClr val="FFFFFF"/>
                          </a:solidFill>
                          <a:latin typeface="Arial" pitchFamily="34" charset="0"/>
                          <a:ea typeface="Arial" pitchFamily="34" charset="-122"/>
                          <a:cs typeface="Arial" pitchFamily="34" charset="-120"/>
                        </a:rPr>
                        <a:t>Item</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marL="0" indent="0" algn="r">
                        <a:buNone/>
                      </a:pPr>
                      <a:r>
                        <a:rPr lang="en-US" sz="900" b="1" dirty="0">
                          <a:solidFill>
                            <a:srgbClr val="FFFFFF"/>
                          </a:solidFill>
                          <a:latin typeface="Arial" pitchFamily="34" charset="0"/>
                          <a:ea typeface="Arial" pitchFamily="34" charset="-122"/>
                          <a:cs typeface="Arial" pitchFamily="34" charset="-120"/>
                        </a:rPr>
                        <a:t>Amount</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extLst>
                  <a:ext uri="{0D108BD9-81ED-4DB2-BD59-A6C34878D82A}">
                    <a16:rowId xmlns:a16="http://schemas.microsoft.com/office/drawing/2014/main" val="10000"/>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40 packs at Rs 27,000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10.80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Cabinet and chargers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3.50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Install, electrical, civil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1.50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buNone/>
                      </a:pPr>
                      <a:r>
                        <a:rPr lang="en-US" sz="900" b="1" dirty="0">
                          <a:solidFill>
                            <a:srgbClr val="1F2E2C"/>
                          </a:solidFill>
                          <a:latin typeface="Arial" pitchFamily="34" charset="0"/>
                          <a:ea typeface="Arial" pitchFamily="34" charset="-122"/>
                          <a:cs typeface="Arial" pitchFamily="34" charset="-120"/>
                        </a:rPr>
                        <a:t>Capex per station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b="1" dirty="0">
                          <a:solidFill>
                            <a:srgbClr val="1F2E2C"/>
                          </a:solidFill>
                          <a:latin typeface="Arial" pitchFamily="34" charset="0"/>
                          <a:ea typeface="Arial" pitchFamily="34" charset="-122"/>
                          <a:cs typeface="Arial" pitchFamily="34" charset="-120"/>
                        </a:rPr>
                        <a:t>Rs 15.80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Revenue, 45 subscribers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2.70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Electricity, 180 kWh/day</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0.67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Pump partner share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0.20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Battery depreciation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0.18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marL="0" indent="0">
                        <a:buNone/>
                      </a:pPr>
                      <a:r>
                        <a:rPr lang="en-US" sz="900" dirty="0">
                          <a:solidFill>
                            <a:srgbClr val="1F2E2C"/>
                          </a:solidFill>
                          <a:latin typeface="Arial" pitchFamily="34" charset="0"/>
                          <a:ea typeface="Arial" pitchFamily="34" charset="-122"/>
                          <a:cs typeface="Arial" pitchFamily="34" charset="-120"/>
                        </a:rPr>
                        <a:t>Software and service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dirty="0">
                          <a:solidFill>
                            <a:srgbClr val="1F2E2C"/>
                          </a:solidFill>
                          <a:latin typeface="Arial" pitchFamily="34" charset="0"/>
                          <a:ea typeface="Arial" pitchFamily="34" charset="-122"/>
                          <a:cs typeface="Arial" pitchFamily="34" charset="-120"/>
                        </a:rPr>
                        <a:t>Rs 0.15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marL="0" indent="0">
                        <a:buNone/>
                      </a:pPr>
                      <a:r>
                        <a:rPr lang="en-US" sz="900" b="1" dirty="0">
                          <a:solidFill>
                            <a:srgbClr val="1F2E2C"/>
                          </a:solidFill>
                          <a:latin typeface="Arial" pitchFamily="34" charset="0"/>
                          <a:ea typeface="Arial" pitchFamily="34" charset="-122"/>
                          <a:cs typeface="Arial" pitchFamily="34" charset="-120"/>
                        </a:rPr>
                        <a:t>Contribution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marL="0" indent="0" algn="r">
                        <a:buNone/>
                      </a:pPr>
                      <a:r>
                        <a:rPr lang="en-US" sz="900" b="1" dirty="0">
                          <a:solidFill>
                            <a:srgbClr val="1F2E2C"/>
                          </a:solidFill>
                          <a:latin typeface="Arial" pitchFamily="34" charset="0"/>
                          <a:ea typeface="Arial" pitchFamily="34" charset="-122"/>
                          <a:cs typeface="Arial" pitchFamily="34" charset="-120"/>
                        </a:rPr>
                        <a:t>Rs 1.50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extLst>
                  <a:ext uri="{0D108BD9-81ED-4DB2-BD59-A6C34878D82A}">
                    <a16:rowId xmlns:a16="http://schemas.microsoft.com/office/drawing/2014/main" val="10010"/>
                  </a:ext>
                </a:extLst>
              </a:tr>
              <a:tr h="246888">
                <a:tc>
                  <a:txBody>
                    <a:bodyPr/>
                    <a:lstStyle/>
                    <a:p>
                      <a:pPr marL="0" indent="0">
                        <a:buNone/>
                      </a:pPr>
                      <a:r>
                        <a:rPr lang="en-US" sz="900" b="1" dirty="0">
                          <a:solidFill>
                            <a:srgbClr val="1F2E2C"/>
                          </a:solidFill>
                          <a:latin typeface="Arial" pitchFamily="34" charset="0"/>
                          <a:ea typeface="Arial" pitchFamily="34" charset="-122"/>
                          <a:cs typeface="Arial" pitchFamily="34" charset="-120"/>
                        </a:rPr>
                        <a:t>Payback</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r">
                        <a:buNone/>
                      </a:pPr>
                      <a:r>
                        <a:rPr lang="en-US" sz="900" b="1" dirty="0">
                          <a:solidFill>
                            <a:srgbClr val="1F2E2C"/>
                          </a:solidFill>
                          <a:latin typeface="Arial" pitchFamily="34" charset="0"/>
                          <a:ea typeface="Arial" pitchFamily="34" charset="-122"/>
                          <a:cs typeface="Arial" pitchFamily="34" charset="-120"/>
                        </a:rPr>
                        <a:t>18 to 24 months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0" name="Text 7"/>
          <p:cNvSpPr txBox="1"/>
          <p:nvPr/>
        </p:nvSpPr>
        <p:spPr>
          <a:xfrm>
            <a:off x="603504" y="4617720"/>
            <a:ext cx="3639312" cy="310896"/>
          </a:xfrm>
          <a:prstGeom prst="rect">
            <a:avLst/>
          </a:prstGeom>
          <a:noFill/>
          <a:ln/>
        </p:spPr>
        <p:txBody>
          <a:bodyPr wrap="square" lIns="0" tIns="0" rIns="0" bIns="0" rtlCol="0" anchor="t"/>
          <a:lstStyle/>
          <a:p>
            <a:pPr marL="0" indent="0">
              <a:lnSpc>
                <a:spcPts val="1000"/>
              </a:lnSpc>
              <a:buNone/>
            </a:pPr>
            <a:r>
              <a:rPr lang="en-US" sz="800" i="1" dirty="0">
                <a:solidFill>
                  <a:srgbClr val="5A6B68"/>
                </a:solidFill>
                <a:latin typeface="Arial" pitchFamily="34" charset="0"/>
                <a:ea typeface="Arial" pitchFamily="34" charset="-122"/>
                <a:cs typeface="Arial" pitchFamily="34" charset="-120"/>
              </a:rPr>
              <a:t>Price architecture: unlimited monthly subscription. Rs 6,000 for 2W, Rs 6,000 introductory for autos moving to Rs 7,500 at scale [7].</a:t>
            </a:r>
            <a:endParaRPr lang="en-US" sz="800" dirty="0"/>
          </a:p>
        </p:txBody>
      </p:sp>
      <p:sp>
        <p:nvSpPr>
          <p:cNvPr id="11" name="Shape 8"/>
          <p:cNvSpPr/>
          <p:nvPr/>
        </p:nvSpPr>
        <p:spPr>
          <a:xfrm>
            <a:off x="4553712" y="1078992"/>
            <a:ext cx="3547872" cy="3913632"/>
          </a:xfrm>
          <a:prstGeom prst="roundRect">
            <a:avLst>
              <a:gd name="adj" fmla="val 1804"/>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2" name="Shape 9"/>
          <p:cNvSpPr/>
          <p:nvPr/>
        </p:nvSpPr>
        <p:spPr>
          <a:xfrm>
            <a:off x="4663440" y="1188720"/>
            <a:ext cx="274320" cy="274320"/>
          </a:xfrm>
          <a:prstGeom prst="ellipse">
            <a:avLst/>
          </a:prstGeom>
          <a:solidFill>
            <a:srgbClr val="196B67"/>
          </a:solidFill>
          <a:ln w="12700">
            <a:solidFill>
              <a:srgbClr val="196B67"/>
            </a:solidFill>
            <a:prstDash val="solid"/>
          </a:ln>
        </p:spPr>
      </p:sp>
      <p:sp>
        <p:nvSpPr>
          <p:cNvPr id="13" name="Text 10"/>
          <p:cNvSpPr txBox="1"/>
          <p:nvPr/>
        </p:nvSpPr>
        <p:spPr>
          <a:xfrm>
            <a:off x="4663440"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1"/>
          <p:cNvSpPr txBox="1"/>
          <p:nvPr/>
        </p:nvSpPr>
        <p:spPr>
          <a:xfrm>
            <a:off x="5010912" y="1170432"/>
            <a:ext cx="2980944"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Go To Market</a:t>
            </a:r>
            <a:endParaRPr lang="en-US" sz="1350" dirty="0"/>
          </a:p>
        </p:txBody>
      </p:sp>
      <p:sp>
        <p:nvSpPr>
          <p:cNvPr id="15" name="Text 12"/>
          <p:cNvSpPr txBox="1"/>
          <p:nvPr/>
        </p:nvSpPr>
        <p:spPr>
          <a:xfrm>
            <a:off x="4700016" y="1591056"/>
            <a:ext cx="3255264" cy="329184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Produce: modules assembled and tested in house from Indian ACC cell suppliers, cabinets sourced locally</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Distribute: host model at partner petrol pumps on 100 to 150 sq ft, revenue share of Rs 20,000 a month, no land purchase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Service: IoT health monitoring of every pack, faulty packs pulled to a central depot, riders never wait for repair</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Sell: onboarding desks at Rapido and Instamart rider hubs, WhatsApp rider groups, referral bonus of one free week</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Advertise: signage at partner pumps, regional language reels, tie up with EV dealers at point of sale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Launch investment: Rs 1.58 Cr for 10 stations, Rs 30 L platform, Rs 20 L marketing</a:t>
            </a:r>
            <a:endParaRPr lang="en-US" sz="950" dirty="0"/>
          </a:p>
        </p:txBody>
      </p:sp>
      <p:sp>
        <p:nvSpPr>
          <p:cNvPr id="16" name="Shape 13"/>
          <p:cNvSpPr/>
          <p:nvPr/>
        </p:nvSpPr>
        <p:spPr>
          <a:xfrm>
            <a:off x="8266176" y="1078992"/>
            <a:ext cx="3465576" cy="3913632"/>
          </a:xfrm>
          <a:prstGeom prst="roundRect">
            <a:avLst>
              <a:gd name="adj" fmla="val 1847"/>
            </a:avLst>
          </a:prstGeom>
          <a:solidFill>
            <a:srgbClr val="FFFFFF"/>
          </a:solidFill>
          <a:ln w="12700">
            <a:solidFill>
              <a:srgbClr val="BFD9D2"/>
            </a:solidFill>
            <a:prstDash val="solid"/>
          </a:ln>
          <a:effectLst>
            <a:outerShdw blurRad="76200" dist="12700" dir="5400000" algn="bl" rotWithShape="0">
              <a:srgbClr val="AABEB9">
                <a:alpha val="30000"/>
              </a:srgbClr>
            </a:outerShdw>
          </a:effectLst>
        </p:spPr>
      </p:sp>
      <p:sp>
        <p:nvSpPr>
          <p:cNvPr id="17" name="Shape 14"/>
          <p:cNvSpPr/>
          <p:nvPr/>
        </p:nvSpPr>
        <p:spPr>
          <a:xfrm>
            <a:off x="8375904" y="1188720"/>
            <a:ext cx="274320" cy="274320"/>
          </a:xfrm>
          <a:prstGeom prst="ellipse">
            <a:avLst/>
          </a:prstGeom>
          <a:solidFill>
            <a:srgbClr val="196B67"/>
          </a:solidFill>
          <a:ln w="12700">
            <a:solidFill>
              <a:srgbClr val="196B67"/>
            </a:solidFill>
            <a:prstDash val="solid"/>
          </a:ln>
        </p:spPr>
      </p:sp>
      <p:sp>
        <p:nvSpPr>
          <p:cNvPr id="18" name="Text 15"/>
          <p:cNvSpPr txBox="1"/>
          <p:nvPr/>
        </p:nvSpPr>
        <p:spPr>
          <a:xfrm>
            <a:off x="8375904" y="1188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6"/>
          <p:cNvSpPr txBox="1"/>
          <p:nvPr/>
        </p:nvSpPr>
        <p:spPr>
          <a:xfrm>
            <a:off x="8723376" y="1170432"/>
            <a:ext cx="2898648"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Sales Projections</a:t>
            </a:r>
            <a:endParaRPr lang="en-US" sz="1350" dirty="0"/>
          </a:p>
        </p:txBody>
      </p:sp>
      <p:graphicFrame>
        <p:nvGraphicFramePr>
          <p:cNvPr id="20" name="Table 1"/>
          <p:cNvGraphicFramePr>
            <a:graphicFrameLocks noGrp="1"/>
          </p:cNvGraphicFramePr>
          <p:nvPr>
            <p:extLst>
              <p:ext uri="{D42A27DB-BD31-4B8C-83A1-F6EECF244321}">
                <p14:modId xmlns:p14="http://schemas.microsoft.com/office/powerpoint/2010/main" val="1579011935"/>
              </p:ext>
            </p:extLst>
          </p:nvPr>
        </p:nvGraphicFramePr>
        <p:xfrm>
          <a:off x="8412480" y="1591056"/>
          <a:ext cx="3172968" cy="1536192"/>
        </p:xfrm>
        <a:graphic>
          <a:graphicData uri="http://schemas.openxmlformats.org/drawingml/2006/table">
            <a:tbl>
              <a:tblPr/>
              <a:tblGrid>
                <a:gridCol w="1225296">
                  <a:extLst>
                    <a:ext uri="{9D8B030D-6E8A-4147-A177-3AD203B41FA5}">
                      <a16:colId xmlns:a16="http://schemas.microsoft.com/office/drawing/2014/main" val="20000"/>
                    </a:ext>
                  </a:extLst>
                </a:gridCol>
                <a:gridCol w="649224">
                  <a:extLst>
                    <a:ext uri="{9D8B030D-6E8A-4147-A177-3AD203B41FA5}">
                      <a16:colId xmlns:a16="http://schemas.microsoft.com/office/drawing/2014/main" val="20001"/>
                    </a:ext>
                  </a:extLst>
                </a:gridCol>
                <a:gridCol w="649224">
                  <a:extLst>
                    <a:ext uri="{9D8B030D-6E8A-4147-A177-3AD203B41FA5}">
                      <a16:colId xmlns:a16="http://schemas.microsoft.com/office/drawing/2014/main" val="20002"/>
                    </a:ext>
                  </a:extLst>
                </a:gridCol>
                <a:gridCol w="649224">
                  <a:extLst>
                    <a:ext uri="{9D8B030D-6E8A-4147-A177-3AD203B41FA5}">
                      <a16:colId xmlns:a16="http://schemas.microsoft.com/office/drawing/2014/main" val="20003"/>
                    </a:ext>
                  </a:extLst>
                </a:gridCol>
              </a:tblGrid>
              <a:tr h="256032">
                <a:tc>
                  <a:txBody>
                    <a:bodyPr/>
                    <a:lstStyle/>
                    <a:p>
                      <a:pPr marL="0" indent="0">
                        <a:buNone/>
                      </a:pP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marL="0" indent="0" algn="ctr">
                        <a:buNone/>
                      </a:pPr>
                      <a:r>
                        <a:rPr lang="en-US" sz="900" b="1" dirty="0">
                          <a:solidFill>
                            <a:srgbClr val="FFFFFF"/>
                          </a:solidFill>
                          <a:latin typeface="Arial" pitchFamily="34" charset="0"/>
                          <a:ea typeface="Arial" pitchFamily="34" charset="-122"/>
                          <a:cs typeface="Arial" pitchFamily="34" charset="-120"/>
                        </a:rPr>
                        <a:t>YR1</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marL="0" indent="0" algn="ctr">
                        <a:buNone/>
                      </a:pPr>
                      <a:r>
                        <a:rPr lang="en-US" sz="900" b="1" dirty="0">
                          <a:solidFill>
                            <a:srgbClr val="FFFFFF"/>
                          </a:solidFill>
                          <a:latin typeface="Arial" pitchFamily="34" charset="0"/>
                          <a:ea typeface="Arial" pitchFamily="34" charset="-122"/>
                          <a:cs typeface="Arial" pitchFamily="34" charset="-120"/>
                        </a:rPr>
                        <a:t>YR2</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marL="0" indent="0" algn="ctr">
                        <a:buNone/>
                      </a:pPr>
                      <a:r>
                        <a:rPr lang="en-US" sz="900" b="1" dirty="0">
                          <a:solidFill>
                            <a:srgbClr val="FFFFFF"/>
                          </a:solidFill>
                          <a:latin typeface="Arial" pitchFamily="34" charset="0"/>
                          <a:ea typeface="Arial" pitchFamily="34" charset="-122"/>
                          <a:cs typeface="Arial" pitchFamily="34" charset="-120"/>
                        </a:rPr>
                        <a:t>YR3</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1F2E2C"/>
                          </a:solidFill>
                          <a:latin typeface="Arial" pitchFamily="34" charset="0"/>
                          <a:ea typeface="Arial" pitchFamily="34" charset="-122"/>
                          <a:cs typeface="Arial" pitchFamily="34" charset="-120"/>
                        </a:rPr>
                        <a:t>Stations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120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1F2E2C"/>
                          </a:solidFill>
                          <a:latin typeface="Arial" pitchFamily="34" charset="0"/>
                          <a:ea typeface="Arial" pitchFamily="34" charset="-122"/>
                          <a:cs typeface="Arial" pitchFamily="34" charset="-120"/>
                        </a:rPr>
                        <a:t>Sales units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450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1,800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5,400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1F2E2C"/>
                          </a:solidFill>
                          <a:latin typeface="Arial" pitchFamily="34" charset="0"/>
                          <a:ea typeface="Arial" pitchFamily="34" charset="-122"/>
                          <a:cs typeface="Arial" pitchFamily="34" charset="-120"/>
                        </a:rPr>
                        <a:t>Price / unit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6,000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6,000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6,500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1F2E2C"/>
                          </a:solidFill>
                          <a:latin typeface="Arial" pitchFamily="34" charset="0"/>
                          <a:ea typeface="Arial" pitchFamily="34" charset="-122"/>
                          <a:cs typeface="Arial" pitchFamily="34" charset="-120"/>
                        </a:rPr>
                        <a:t>Contribution / unit</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3,300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3,400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marL="0" indent="0" algn="ctr">
                        <a:buNone/>
                      </a:pPr>
                      <a:r>
                        <a:rPr lang="en-US" sz="900" dirty="0">
                          <a:solidFill>
                            <a:srgbClr val="1F2E2C"/>
                          </a:solidFill>
                          <a:latin typeface="Arial" pitchFamily="34" charset="0"/>
                          <a:ea typeface="Arial" pitchFamily="34" charset="-122"/>
                          <a:cs typeface="Arial" pitchFamily="34" charset="-120"/>
                        </a:rPr>
                        <a:t>3,600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00" b="1" dirty="0">
                          <a:solidFill>
                            <a:srgbClr val="1F2E2C"/>
                          </a:solidFill>
                          <a:latin typeface="Arial" pitchFamily="34" charset="0"/>
                          <a:ea typeface="Arial" pitchFamily="34" charset="-122"/>
                          <a:cs typeface="Arial" pitchFamily="34" charset="-120"/>
                        </a:rPr>
                        <a:t>Revenue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marL="0" indent="0" algn="ctr">
                        <a:buNone/>
                      </a:pPr>
                      <a:r>
                        <a:rPr lang="en-US" sz="900" b="1" dirty="0">
                          <a:solidFill>
                            <a:srgbClr val="1F2E2C"/>
                          </a:solidFill>
                          <a:latin typeface="Arial" pitchFamily="34" charset="0"/>
                          <a:ea typeface="Arial" pitchFamily="34" charset="-122"/>
                          <a:cs typeface="Arial" pitchFamily="34" charset="-120"/>
                        </a:rPr>
                        <a:t>3.2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marL="0" indent="0" algn="ctr">
                        <a:buNone/>
                      </a:pPr>
                      <a:r>
                        <a:rPr lang="en-US" sz="900" b="1" dirty="0">
                          <a:solidFill>
                            <a:srgbClr val="1F2E2C"/>
                          </a:solidFill>
                          <a:latin typeface="Arial" pitchFamily="34" charset="0"/>
                          <a:ea typeface="Arial" pitchFamily="34" charset="-122"/>
                          <a:cs typeface="Arial" pitchFamily="34" charset="-120"/>
                        </a:rPr>
                        <a:t>13.0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marL="0" indent="0" algn="ctr">
                        <a:buNone/>
                      </a:pPr>
                      <a:r>
                        <a:rPr lang="en-US" sz="900" b="1" dirty="0">
                          <a:solidFill>
                            <a:srgbClr val="1F2E2C"/>
                          </a:solidFill>
                          <a:latin typeface="Arial" pitchFamily="34" charset="0"/>
                          <a:ea typeface="Arial" pitchFamily="34" charset="-122"/>
                          <a:cs typeface="Arial" pitchFamily="34" charset="-120"/>
                        </a:rPr>
                        <a:t>42.1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extLst>
                  <a:ext uri="{0D108BD9-81ED-4DB2-BD59-A6C34878D82A}">
                    <a16:rowId xmlns:a16="http://schemas.microsoft.com/office/drawing/2014/main" val="10005"/>
                  </a:ext>
                </a:extLst>
              </a:tr>
            </a:tbl>
          </a:graphicData>
        </a:graphic>
      </p:graphicFrame>
      <p:sp>
        <p:nvSpPr>
          <p:cNvPr id="21" name="Text 17"/>
          <p:cNvSpPr txBox="1"/>
          <p:nvPr/>
        </p:nvSpPr>
        <p:spPr>
          <a:xfrm>
            <a:off x="8375904" y="3273552"/>
            <a:ext cx="3246120" cy="310896"/>
          </a:xfrm>
          <a:prstGeom prst="rect">
            <a:avLst/>
          </a:prstGeom>
          <a:noFill/>
          <a:ln/>
        </p:spPr>
        <p:txBody>
          <a:bodyPr wrap="square" lIns="0" tIns="0" rIns="0" bIns="0" rtlCol="0" anchor="ctr"/>
          <a:lstStyle/>
          <a:p>
            <a:pPr marL="0" indent="0">
              <a:buNone/>
            </a:pPr>
            <a:r>
              <a:rPr lang="en-US" sz="1350" b="1" dirty="0">
                <a:solidFill>
                  <a:srgbClr val="0E3B38"/>
                </a:solidFill>
                <a:latin typeface="Cambria" pitchFamily="34" charset="0"/>
                <a:ea typeface="Cambria" pitchFamily="34" charset="-122"/>
                <a:cs typeface="Cambria" pitchFamily="34" charset="-120"/>
              </a:rPr>
              <a:t>Key Risks We Have Priced In</a:t>
            </a:r>
            <a:endParaRPr lang="en-US" sz="1350" dirty="0"/>
          </a:p>
        </p:txBody>
      </p:sp>
      <p:sp>
        <p:nvSpPr>
          <p:cNvPr id="22" name="Text 18"/>
          <p:cNvSpPr txBox="1"/>
          <p:nvPr/>
        </p:nvSpPr>
        <p:spPr>
          <a:xfrm>
            <a:off x="8412480" y="3694176"/>
            <a:ext cx="3172968" cy="118872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Interoperability standard still not mandated by BIS [2]</a:t>
            </a:r>
            <a:endParaRPr lang="en-US" sz="900" dirty="0"/>
          </a:p>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Sun Mobility and IndianOil plan over 10,000 swap stations by 2030 on fuel retail sites [2]</a:t>
            </a:r>
            <a:endParaRPr lang="en-US" sz="900" dirty="0"/>
          </a:p>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Standalone batteries carry 18 percent GST against 5 percent on complete EVs [6]</a:t>
            </a:r>
            <a:endParaRPr lang="en-US" sz="900" dirty="0"/>
          </a:p>
        </p:txBody>
      </p:sp>
      <p:sp>
        <p:nvSpPr>
          <p:cNvPr id="23" name="Shape 19"/>
          <p:cNvSpPr/>
          <p:nvPr/>
        </p:nvSpPr>
        <p:spPr>
          <a:xfrm>
            <a:off x="457200" y="5175504"/>
            <a:ext cx="11274552" cy="1280160"/>
          </a:xfrm>
          <a:prstGeom prst="roundRect">
            <a:avLst>
              <a:gd name="adj" fmla="val 4286"/>
            </a:avLst>
          </a:prstGeom>
          <a:solidFill>
            <a:srgbClr val="F4F8F7"/>
          </a:solidFill>
          <a:ln w="12700">
            <a:solidFill>
              <a:srgbClr val="BFD9D2"/>
            </a:solidFill>
            <a:prstDash val="solid"/>
          </a:ln>
        </p:spPr>
      </p:sp>
      <p:sp>
        <p:nvSpPr>
          <p:cNvPr id="24" name="Text 20"/>
          <p:cNvSpPr txBox="1"/>
          <p:nvPr/>
        </p:nvSpPr>
        <p:spPr>
          <a:xfrm>
            <a:off x="621792" y="5248656"/>
            <a:ext cx="2743200" cy="219456"/>
          </a:xfrm>
          <a:prstGeom prst="rect">
            <a:avLst/>
          </a:prstGeom>
          <a:noFill/>
          <a:ln/>
        </p:spPr>
        <p:txBody>
          <a:bodyPr wrap="square" lIns="0" tIns="0" rIns="0" bIns="0" rtlCol="0" anchor="ctr"/>
          <a:lstStyle/>
          <a:p>
            <a:pPr marL="0" indent="0">
              <a:buNone/>
            </a:pPr>
            <a:r>
              <a:rPr lang="en-US" sz="1000" b="1" dirty="0">
                <a:solidFill>
                  <a:srgbClr val="0E3B38"/>
                </a:solidFill>
                <a:latin typeface="Cambria" pitchFamily="34" charset="0"/>
                <a:ea typeface="Cambria" pitchFamily="34" charset="-122"/>
                <a:cs typeface="Cambria" pitchFamily="34" charset="-120"/>
              </a:rPr>
              <a:t>References</a:t>
            </a:r>
            <a:endParaRPr lang="en-US" sz="1000" dirty="0"/>
          </a:p>
        </p:txBody>
      </p:sp>
      <p:sp>
        <p:nvSpPr>
          <p:cNvPr id="25" name="Text 21"/>
          <p:cNvSpPr txBox="1"/>
          <p:nvPr/>
        </p:nvSpPr>
        <p:spPr>
          <a:xfrm>
            <a:off x="621792" y="5504688"/>
            <a:ext cx="5486400" cy="896112"/>
          </a:xfrm>
          <a:prstGeom prst="rect">
            <a:avLst/>
          </a:prstGeom>
          <a:noFill/>
          <a:ln/>
        </p:spPr>
        <p:txBody>
          <a:bodyPr wrap="square" lIns="0" tIns="0" rIns="0" bIns="0" rtlCol="0" anchor="t"/>
          <a:lstStyle/>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[1] Mordor Intelligence, India Battery Swapping for Electric Two Wheelers Market, 2026. mordorintelligence.com/industry-reports/india-battery-swapping-for-electric-two-wheelers-market</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[2] MeraEV, Battery Swapping in India 2026: Networks, Cost, Guide. meraev.com/blog/battery-swapping-electric-scooters-india-2026-guide</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[3] Goodreturns, Petrol Price in Mumbai, September 2026. goodreturns.in/petrol-price-in-mumbai.html</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[4] Equentis, CNG and PNG Price Hike, New Rates in Mumbai and Delhi NCR, September 2026. equentis.com/blog/cng-png-price-hike-new-rates-in-mumbai-and-delhi-ncr</a:t>
            </a:r>
            <a:endParaRPr lang="en-US" sz="700" dirty="0"/>
          </a:p>
        </p:txBody>
      </p:sp>
      <p:sp>
        <p:nvSpPr>
          <p:cNvPr id="26" name="Text 22"/>
          <p:cNvSpPr txBox="1"/>
          <p:nvPr/>
        </p:nvSpPr>
        <p:spPr>
          <a:xfrm>
            <a:off x="6217920" y="5504688"/>
            <a:ext cx="5486400" cy="896112"/>
          </a:xfrm>
          <a:prstGeom prst="rect">
            <a:avLst/>
          </a:prstGeom>
          <a:noFill/>
          <a:ln/>
        </p:spPr>
        <p:txBody>
          <a:bodyPr wrap="square" lIns="0" tIns="0" rIns="0" bIns="0" rtlCol="0" anchor="t"/>
          <a:lstStyle/>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[5] Piaggio Vehicles, Ape Electric Cargo Swappable Battery, technical specification. piaggio-cv.co.in/electric/electric-cargo-swappable-battery</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[6] EVSelect, EV Battery Swapping in India 2026, How It Works, Networks and Costs. evselect.in/blog/ev-battery-swapping-india</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[7] EVXpertz, Battery Swapping Business Models in India, 2W and 3W Swap Network Guide. evxpertz.com/blogs/battery-swapping-business-model-india</a:t>
            </a:r>
            <a:endParaRPr lang="en-US" sz="700" dirty="0"/>
          </a:p>
          <a:p>
            <a:pPr marL="0" indent="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[8] IBEF, Emergence of Battery Swapping Stations and Battery Swapping EVs in India. ibef.org/research/case-study/emergence-of-battery-swapping-stations-and-battery-swapping-electric-vehicles-in-india</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2878</Words>
  <Application>Microsoft Office PowerPoint</Application>
  <PresentationFormat>Widescreen</PresentationFormat>
  <Paragraphs>268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Arial Black</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krishna chaudhary</cp:lastModifiedBy>
  <cp:revision>2</cp:revision>
  <dcterms:created xsi:type="dcterms:W3CDTF">2026-09-06T22:25:16Z</dcterms:created>
  <dcterms:modified xsi:type="dcterms:W3CDTF">2026-09-08T05:46:33Z</dcterms:modified>
</cp:coreProperties>
</file>