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6"/>
  </p:notesMasterIdLst>
  <p:sldIdLst>
    <p:sldId id="891" r:id="rId2"/>
    <p:sldId id="892" r:id="rId3"/>
    <p:sldId id="894" r:id="rId4"/>
    <p:sldId id="89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43CC"/>
    <a:srgbClr val="008313"/>
    <a:srgbClr val="FF9F00"/>
    <a:srgbClr val="D88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47" autoAdjust="0"/>
    <p:restoredTop sz="94643"/>
  </p:normalViewPr>
  <p:slideViewPr>
    <p:cSldViewPr snapToGrid="0">
      <p:cViewPr varScale="1">
        <p:scale>
          <a:sx n="82" d="100"/>
          <a:sy n="82" d="100"/>
        </p:scale>
        <p:origin x="11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C5586-751A-5342-B3E2-F5B1EFBA18C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F0B93-CDEF-F146-8F6E-9555E48A6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4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64C3AF-EE20-4D2E-BC8A-37DC4FD3903F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BBA91-93F5-4800-8C64-A64C85A508A8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80016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B73199-4767-40E0-BAE7-9A0D77CB37B3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B1E1A9-EB91-48F1-9414-BA664B1DBC3B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797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993772-7371-4D39-B617-2C68650073EA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02754B-9C72-4808-A361-C4C053B4AF12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61321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BED803-10CB-4836-8C4A-9D15929068E2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E5671C-EFFA-4D5D-BB04-7D3F37166A57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288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06D37B-DE6D-4793-9722-37B5FFBB73D0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2A821-E94B-451C-B076-E11570FD96C7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11373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AA51B4-AD15-4D9E-8171-BFE1351C908E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1990D-A6C9-4346-BABD-073FAE8125A5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186076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7087A6-3F78-47F8-A4AC-BD080A250D67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99C4ED-4B14-4E0C-B80E-F173CC75BDCD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45265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410A1E-5CCC-4C4B-A3F8-00119A9A2503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66BD07-22A9-4826-93C2-A0EA9235991D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47451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3EA072-C83E-465A-9285-C7CBFBF91904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2C64AB-06D0-4167-95D6-B90BACB6487E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4048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99748A-A358-46E4-AEAC-59F379389A2D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DDC173-48DE-486A-AD9A-0A92F4A580EF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39695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FF9CAA-910C-497E-BF5E-35672B7CEFFB}" type="datetime1">
              <a:rPr lang="en-US" altLang="en-US" smtClean="0">
                <a:solidFill>
                  <a:srgbClr val="545454"/>
                </a:solidFill>
              </a:rPr>
              <a:pPr>
                <a:defRPr/>
              </a:pPr>
              <a:t>9/7/2026</a:t>
            </a:fld>
            <a:endParaRPr lang="en-US" altLang="en-US">
              <a:solidFill>
                <a:srgbClr val="54545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srgbClr val="54545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85A5A1-D7CC-4102-8251-896669CDB03C}" type="slidenum">
              <a:rPr lang="zh-CN" altLang="en-US" smtClean="0">
                <a:solidFill>
                  <a:srgbClr val="545454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3658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14474" fontAlgn="base">
              <a:spcBef>
                <a:spcPct val="0"/>
              </a:spcBef>
              <a:spcAft>
                <a:spcPct val="0"/>
              </a:spcAft>
              <a:defRPr/>
            </a:pPr>
            <a:fld id="{A48964C9-0F9A-49C9-BB68-C50E4DC2FAAD}" type="datetime1">
              <a:rPr lang="en-US" altLang="en-US" smtClean="0">
                <a:solidFill>
                  <a:srgbClr val="545454"/>
                </a:solidFill>
                <a:cs typeface="Arial"/>
                <a:sym typeface="Arial"/>
              </a:rPr>
              <a:pPr defTabSz="514474" fontAlgn="base">
                <a:spcBef>
                  <a:spcPct val="0"/>
                </a:spcBef>
                <a:spcAft>
                  <a:spcPct val="0"/>
                </a:spcAft>
                <a:defRPr/>
              </a:pPr>
              <a:t>9/7/2026</a:t>
            </a:fld>
            <a:endParaRPr lang="en-US" altLang="en-US">
              <a:solidFill>
                <a:srgbClr val="545454"/>
              </a:solidFill>
              <a:cs typeface="Arial"/>
              <a:sym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1447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545454"/>
              </a:solidFill>
              <a:cs typeface="Arial"/>
              <a:sym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14474" fontAlgn="base">
              <a:spcBef>
                <a:spcPct val="0"/>
              </a:spcBef>
              <a:spcAft>
                <a:spcPct val="0"/>
              </a:spcAft>
              <a:defRPr/>
            </a:pPr>
            <a:fld id="{F2B35FA8-6EA3-4EE5-BF5E-D3C9617F4C49}" type="slidenum">
              <a:rPr lang="zh-CN" altLang="en-US" smtClean="0">
                <a:solidFill>
                  <a:srgbClr val="545454"/>
                </a:solidFill>
                <a:cs typeface="Arial"/>
                <a:sym typeface="Arial"/>
              </a:rPr>
              <a:pPr defTabSz="514474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>
              <a:solidFill>
                <a:srgbClr val="545454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9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fade/>
  </p:transition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55796"/>
              </p:ext>
            </p:extLst>
          </p:nvPr>
        </p:nvGraphicFramePr>
        <p:xfrm>
          <a:off x="0" y="-207787"/>
          <a:ext cx="12183533" cy="70742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4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0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4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880">
                <a:tc gridSpan="7">
                  <a:txBody>
                    <a:bodyPr/>
                    <a:lstStyle/>
                    <a:p>
                      <a:pPr algn="l"/>
                      <a:r>
                        <a:rPr sz="1400" dirty="0"/>
                        <a:t>
</a:t>
                      </a:r>
                      <a:r>
                        <a:rPr sz="1600" dirty="0"/>
                        <a:t>     Team</a:t>
                      </a:r>
                      <a:r>
                        <a:rPr lang="en-IN" sz="1600" dirty="0"/>
                        <a:t> 9</a:t>
                      </a:r>
                      <a:r>
                        <a:rPr sz="1600" dirty="0"/>
                        <a:t> / Member “</a:t>
                      </a:r>
                      <a:r>
                        <a:rPr lang="en-IN" sz="1600" dirty="0"/>
                        <a:t> 25M1708</a:t>
                      </a:r>
                      <a:r>
                        <a:rPr sz="1600" dirty="0"/>
                        <a:t>”  Customer Discovery Journal</a:t>
                      </a:r>
                      <a:r>
                        <a:rPr sz="1400" dirty="0"/>
                        <a:t>
</a:t>
                      </a:r>
                      <a:endParaRPr lang="en-IN" sz="1200" dirty="0"/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77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Potential
Market?
1. Rapido &amp; commercial riders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CNG</a:t>
                      </a:r>
                      <a:r>
                        <a:rPr lang="en-IN" sz="1500" b="1" dirty="0">
                          <a:latin typeface="Arial Black"/>
                        </a:rPr>
                        <a:t> Auto</a:t>
                      </a:r>
                      <a:r>
                        <a:rPr sz="1500" b="1" dirty="0">
                          <a:latin typeface="Arial Black"/>
                        </a:rPr>
                        <a:t> &amp; commercial riders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3. Zomato food delivery riders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Unmet
Need?
1. Affordable EV, nearby swapping, less downtime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Lower cost per km and more nearby battery stations
3. Affordable EV with better uphill performance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Customer Profile?
1. Rapido rider; personal petrol bike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</a:t>
                      </a:r>
                      <a:r>
                        <a:rPr lang="en-IN" sz="1500" b="1" dirty="0">
                          <a:latin typeface="Arial Black"/>
                        </a:rPr>
                        <a:t>.</a:t>
                      </a:r>
                      <a:r>
                        <a:rPr sz="1500" b="1" dirty="0">
                          <a:latin typeface="Arial Black"/>
                        </a:rPr>
                        <a:t>Currently uses CNG vehicle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3. Zomato delivery boy; petrol bike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Customer Name, Contact
1.Nizzamuddin
</a:t>
                      </a:r>
                      <a:r>
                        <a:rPr lang="en-IN" sz="1500" b="1" dirty="0">
                          <a:latin typeface="Arial Black"/>
                        </a:rPr>
                        <a:t>9115346945</a:t>
                      </a: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Amit </a:t>
                      </a:r>
                      <a:r>
                        <a:rPr sz="1500" b="1" dirty="0" err="1">
                          <a:latin typeface="Arial Black"/>
                        </a:rPr>
                        <a:t>Sindhe</a:t>
                      </a:r>
                      <a:r>
                        <a:rPr sz="1500" b="1" dirty="0">
                          <a:latin typeface="Arial Black"/>
                        </a:rPr>
                        <a:t>
</a:t>
                      </a:r>
                      <a:r>
                        <a:rPr lang="en-IN" sz="1500" b="1" dirty="0">
                          <a:latin typeface="Arial Black"/>
                        </a:rPr>
                        <a:t>9769856576</a:t>
                      </a: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l"/>
                      <a:r>
                        <a:rPr sz="1500" b="1" dirty="0">
                          <a:latin typeface="Arial Black"/>
                        </a:rPr>
                        <a:t>3. Raj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l"/>
                      <a:r>
                        <a:rPr lang="en-IN" sz="1500" b="1">
                          <a:latin typeface="Arial Black"/>
                        </a:rPr>
                        <a:t>  8303842812</a:t>
                      </a:r>
                      <a:endParaRPr sz="1500" b="1" dirty="0">
                        <a:latin typeface="Arial Black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Current
Option / Cost?
1. Petrol bike; previous rented EV ₹10,000/month; swapping up to 10 km away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CNG ~₹2.5/km; EV system ~₹1.5/km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3. Previous EV ~₹8,000/month; switched to petrol due to high cost and slow uphill performance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What can be Better / Faster / Cheaper?
1. Nearby swapping; less downtime; affordable EV plans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Save ~₹1/km; more stations nearby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3. Faster uphill performance; lower monthly price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Price
Willing to Pay?
1. Ready to switch if cost is lower and swapping is nearby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2. Ready to purchase if more battery stations are nearby
3. Ready to purchase around ₹5,000/month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13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b="1" u="sng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Audio,</a:t>
                      </a:r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 Video, Picture Submitted on Moodle</a:t>
                      </a:r>
                      <a:endParaRPr lang="en-IN" sz="1200" b="1" u="none" dirty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Customer Interviews Done by / date</a:t>
                      </a:r>
                      <a:endParaRPr lang="en-IN" sz="1500" b="1" u="sng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own Arrow 2"/>
          <p:cNvSpPr/>
          <p:nvPr/>
        </p:nvSpPr>
        <p:spPr>
          <a:xfrm>
            <a:off x="3267592" y="5854096"/>
            <a:ext cx="4754713" cy="293133"/>
          </a:xfrm>
          <a:prstGeom prst="downArrow">
            <a:avLst/>
          </a:prstGeom>
          <a:solidFill>
            <a:srgbClr val="196B6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0443373" y="0"/>
            <a:ext cx="174862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78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0" b="1" i="1" dirty="0">
                <a:solidFill>
                  <a:prstClr val="white"/>
                </a:solidFill>
                <a:latin typeface="Arial Black" panose="020B0A04020102020204" pitchFamily="34" charset="0"/>
                <a:cs typeface="Arial"/>
                <a:sym typeface="Arial"/>
              </a:rPr>
              <a:t>© Devdip Purkayastha</a:t>
            </a:r>
            <a:endParaRPr lang="en-US" sz="900" b="1" i="1" dirty="0">
              <a:solidFill>
                <a:prstClr val="white"/>
              </a:solidFill>
              <a:latin typeface="Arial Black" panose="020B0A04020102020204" pitchFamily="34" charset="0"/>
              <a:cs typeface="Arial"/>
              <a:sym typeface="Arial"/>
            </a:endParaRPr>
          </a:p>
        </p:txBody>
      </p:sp>
      <p:sp>
        <p:nvSpPr>
          <p:cNvPr id="4" name="Down Arrow 2">
            <a:extLst>
              <a:ext uri="{FF2B5EF4-FFF2-40B4-BE49-F238E27FC236}">
                <a16:creationId xmlns:a16="http://schemas.microsoft.com/office/drawing/2014/main" id="{57422055-6513-A6B4-6D16-B88595F25376}"/>
              </a:ext>
            </a:extLst>
          </p:cNvPr>
          <p:cNvSpPr/>
          <p:nvPr/>
        </p:nvSpPr>
        <p:spPr>
          <a:xfrm>
            <a:off x="3267592" y="5854095"/>
            <a:ext cx="4754713" cy="293133"/>
          </a:xfrm>
          <a:prstGeom prst="downArrow">
            <a:avLst/>
          </a:prstGeom>
          <a:solidFill>
            <a:srgbClr val="196B6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457189">
              <a:defRPr/>
            </a:pPr>
            <a:r>
              <a:rPr lang="en-IN" altLang="en-US" sz="1051" b="1" dirty="0">
                <a:solidFill>
                  <a:srgbClr val="FFFFFF"/>
                </a:solidFill>
                <a:latin typeface="Arial Black" panose="020B0A04020102020204" pitchFamily="34" charset="0"/>
                <a:sym typeface="Arial"/>
              </a:rPr>
              <a:t>ADDED INFORMATION</a:t>
            </a:r>
            <a:endParaRPr lang="en-US" altLang="zh-CN" sz="1051" b="1" dirty="0">
              <a:solidFill>
                <a:srgbClr val="FFFFFF"/>
              </a:solidFill>
              <a:latin typeface="Arial Black" panose="020B0A040201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273753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511885"/>
              </p:ext>
            </p:extLst>
          </p:nvPr>
        </p:nvGraphicFramePr>
        <p:xfrm>
          <a:off x="0" y="-207787"/>
          <a:ext cx="12183533" cy="70657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4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0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4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4880">
                <a:tc gridSpan="7">
                  <a:txBody>
                    <a:bodyPr/>
                    <a:lstStyle/>
                    <a:p>
                      <a:pPr algn="l"/>
                      <a:r>
                        <a:rPr sz="1600" dirty="0"/>
                        <a:t>
   </a:t>
                      </a:r>
                      <a:r>
                        <a:rPr sz="1400" dirty="0"/>
                        <a:t>
     </a:t>
                      </a:r>
                      <a:r>
                        <a:rPr sz="1600" dirty="0"/>
                        <a:t>Team</a:t>
                      </a:r>
                      <a:r>
                        <a:rPr lang="en-IN" sz="1600" dirty="0"/>
                        <a:t> 9</a:t>
                      </a:r>
                      <a:r>
                        <a:rPr sz="1600" dirty="0"/>
                        <a:t> / Member “</a:t>
                      </a:r>
                      <a:r>
                        <a:rPr lang="en-IN" sz="1600" dirty="0"/>
                        <a:t>25M1708</a:t>
                      </a:r>
                      <a:r>
                        <a:rPr sz="1600" dirty="0"/>
                        <a:t>”  Customer Discovery Journal</a:t>
                      </a:r>
                      <a:endParaRPr lang="en-IN" sz="1400" dirty="0"/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77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Potential
Market?
4. Ola &amp; commercial auto drivers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5. Swiggy delivery riders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6. Zomato food delivery riders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Unmet
Need?
4. Nearby station and affordable EV plan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5. Lower monthly EV cost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6. More affordable EV plan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 Black"/>
                        </a:rPr>
                        <a:t>Customer Profile?
4. Ola driver; currently uses CNG auto
5. Swiggy delivery boy; currently uses EV
6. Zomato delivery boy; currently uses EV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Customer Name, Contact
4. Sanjay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5</a:t>
                      </a:r>
                      <a:r>
                        <a:rPr lang="en-IN" sz="1500" b="1" dirty="0">
                          <a:latin typeface="Arial Black"/>
                        </a:rPr>
                        <a:t>.</a:t>
                      </a:r>
                      <a:r>
                        <a:rPr sz="1500" b="1" dirty="0" err="1">
                          <a:latin typeface="Arial Black"/>
                        </a:rPr>
                        <a:t>Kaushlendra</a:t>
                      </a:r>
                      <a:r>
                        <a:rPr sz="1500" b="1" dirty="0">
                          <a:latin typeface="Arial Black"/>
                        </a:rPr>
                        <a:t> Singh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6. Ritesh Yadav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Current
Option / Cost?
4. Currently uses CNG auto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5. Current EV cost: ₹7,200/month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6. Current EV cost: ₹7,200/month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latin typeface="Arial Black"/>
                        </a:rPr>
                        <a:t>What can be Better / Faster / Cheaper?
4. Station near him; affordable monthly plan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5. Reduce monthly cost to ₹4,000
</a:t>
                      </a:r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endParaRPr lang="en-IN" sz="1500" b="1" dirty="0">
                        <a:latin typeface="Arial Black"/>
                      </a:endParaRPr>
                    </a:p>
                    <a:p>
                      <a:pPr algn="ctr"/>
                      <a:r>
                        <a:rPr sz="1500" b="1" dirty="0">
                          <a:latin typeface="Arial Black"/>
                        </a:rPr>
                        <a:t>6. Monthly cost below ₹4,000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Arial Black"/>
                        </a:rPr>
                        <a:t>Price
Willing to Pay?
4. Ready to shift if station is nearby and price is ₹4,000–₹5,000/month
5. Ready to join our company at ₹4,000/month
6. Ready to join if price is below ₹4,000/month</a:t>
                      </a: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13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500" b="1" u="sng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Audio,</a:t>
                      </a:r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 Video, Picture Submitted on Moodle</a:t>
                      </a:r>
                      <a:endParaRPr lang="en-IN" sz="1200" b="1" u="none" dirty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Wingdings" panose="05000000000000000000" pitchFamily="2" charset="2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Customer Interviews Done by / date</a:t>
                      </a:r>
                      <a:endParaRPr lang="en-IN" sz="1500" b="1" u="sng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Arial Black" panose="020B0A04020102020204" pitchFamily="34" charset="0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D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own Arrow 2"/>
          <p:cNvSpPr/>
          <p:nvPr/>
        </p:nvSpPr>
        <p:spPr>
          <a:xfrm>
            <a:off x="3267592" y="5854096"/>
            <a:ext cx="4754713" cy="293133"/>
          </a:xfrm>
          <a:prstGeom prst="downArrow">
            <a:avLst/>
          </a:prstGeom>
          <a:solidFill>
            <a:srgbClr val="196B6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0443373" y="0"/>
            <a:ext cx="174862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68578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0" b="1" i="1" dirty="0">
                <a:solidFill>
                  <a:prstClr val="white"/>
                </a:solidFill>
                <a:latin typeface="Arial Black" panose="020B0A04020102020204" pitchFamily="34" charset="0"/>
                <a:cs typeface="Arial"/>
                <a:sym typeface="Arial"/>
              </a:rPr>
              <a:t>© Devdip Purkayastha</a:t>
            </a:r>
            <a:endParaRPr lang="en-US" sz="900" b="1" i="1" dirty="0">
              <a:solidFill>
                <a:prstClr val="white"/>
              </a:solidFill>
              <a:latin typeface="Arial Black" panose="020B0A04020102020204" pitchFamily="34" charset="0"/>
              <a:cs typeface="Arial"/>
              <a:sym typeface="Arial"/>
            </a:endParaRPr>
          </a:p>
        </p:txBody>
      </p:sp>
      <p:sp>
        <p:nvSpPr>
          <p:cNvPr id="4" name="Down Arrow 2">
            <a:extLst>
              <a:ext uri="{FF2B5EF4-FFF2-40B4-BE49-F238E27FC236}">
                <a16:creationId xmlns:a16="http://schemas.microsoft.com/office/drawing/2014/main" id="{2BDCA2BB-193B-DBF2-AB8F-A9A570505871}"/>
              </a:ext>
            </a:extLst>
          </p:cNvPr>
          <p:cNvSpPr/>
          <p:nvPr/>
        </p:nvSpPr>
        <p:spPr>
          <a:xfrm>
            <a:off x="3267592" y="5854095"/>
            <a:ext cx="4754713" cy="293133"/>
          </a:xfrm>
          <a:prstGeom prst="downArrow">
            <a:avLst/>
          </a:prstGeom>
          <a:solidFill>
            <a:srgbClr val="196B67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defTabSz="457200" rtl="0" eaLnBrk="0" latinLnBrk="0" hangingPunct="0"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457189">
              <a:defRPr/>
            </a:pPr>
            <a:r>
              <a:rPr lang="en-IN" altLang="en-US" sz="1051" b="1" dirty="0">
                <a:solidFill>
                  <a:srgbClr val="FFFFFF"/>
                </a:solidFill>
                <a:latin typeface="Arial Black" panose="020B0A04020102020204" pitchFamily="34" charset="0"/>
                <a:sym typeface="Arial"/>
              </a:rPr>
              <a:t>ADDED INFORMATION</a:t>
            </a:r>
            <a:endParaRPr lang="en-US" altLang="zh-CN" sz="1051" b="1" dirty="0">
              <a:solidFill>
                <a:srgbClr val="FFFFFF"/>
              </a:solidFill>
              <a:latin typeface="Arial Black" panose="020B0A040201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94E2E7-E96B-55A0-4DEF-93DD1CF89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56983"/>
              </p:ext>
            </p:extLst>
          </p:nvPr>
        </p:nvGraphicFramePr>
        <p:xfrm>
          <a:off x="0" y="-207788"/>
          <a:ext cx="12183533" cy="70937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88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7985">
                <a:tc gridSpan="2">
                  <a:txBody>
                    <a:bodyPr/>
                    <a:lstStyle/>
                    <a:p>
                      <a:pPr algn="l"/>
                      <a:endParaRPr lang="en-IN" sz="1100" dirty="0"/>
                    </a:p>
                    <a:p>
                      <a:pPr algn="l"/>
                      <a:r>
                        <a:rPr lang="en-IN" sz="1100" dirty="0"/>
                        <a:t>   </a:t>
                      </a:r>
                    </a:p>
                    <a:p>
                      <a:pPr algn="l"/>
                      <a:r>
                        <a:rPr lang="en-IN" sz="1100" dirty="0">
                          <a:latin typeface="Arial Black" panose="020B0A04020102020204" pitchFamily="34" charset="0"/>
                        </a:rPr>
                        <a:t>     </a:t>
                      </a:r>
                      <a:r>
                        <a:rPr lang="en-IN" sz="1900" dirty="0">
                          <a:latin typeface="Arial Black" panose="020B0A04020102020204" pitchFamily="34" charset="0"/>
                        </a:rPr>
                        <a:t>Team</a:t>
                      </a:r>
                      <a:r>
                        <a:rPr lang="en-IN" sz="1900" baseline="0" dirty="0">
                          <a:latin typeface="Arial Black" panose="020B0A04020102020204" pitchFamily="34" charset="0"/>
                        </a:rPr>
                        <a:t> / Member</a:t>
                      </a:r>
                      <a:r>
                        <a:rPr lang="en-IN" sz="1900" dirty="0">
                          <a:latin typeface="Arial Black" panose="020B0A04020102020204" pitchFamily="34" charset="0"/>
                        </a:rPr>
                        <a:t> “___________________________” </a:t>
                      </a:r>
                      <a:r>
                        <a:rPr lang="en-IN" sz="1900" baseline="0" dirty="0">
                          <a:latin typeface="Arial Black" panose="020B0A04020102020204" pitchFamily="34" charset="0"/>
                        </a:rPr>
                        <a:t> Customer Discovery Journal</a:t>
                      </a:r>
                    </a:p>
                    <a:p>
                      <a:pPr algn="r"/>
                      <a:r>
                        <a:rPr lang="en-IN" sz="1100" i="1" baseline="0" dirty="0">
                          <a:latin typeface="Arial Black" panose="020B0A04020102020204" pitchFamily="34" charset="0"/>
                        </a:rPr>
                        <a:t>ENT609 – 2025AUT</a:t>
                      </a:r>
                      <a:endParaRPr lang="en-IN" sz="1100" i="1" dirty="0">
                        <a:latin typeface="Arial Black" panose="020B0A04020102020204" pitchFamily="34" charset="0"/>
                      </a:endParaRPr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6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795">
                <a:tc>
                  <a:txBody>
                    <a:bodyPr/>
                    <a:lstStyle/>
                    <a:p>
                      <a:r>
                        <a:rPr lang="en-IN" sz="1500" b="1" u="sng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Audio,</a:t>
                      </a:r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 Video, Picture Submitted on Moodle</a:t>
                      </a:r>
                    </a:p>
                    <a:p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1.</a:t>
                      </a:r>
                      <a:endParaRPr lang="en-IN" dirty="0"/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Customer Interviews Done by / date</a:t>
                      </a:r>
                    </a:p>
                    <a:p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1. 27 Aug 2026 and 5 </a:t>
                      </a:r>
                      <a:r>
                        <a:rPr lang="en-IN" sz="1500" b="1" u="sng" baseline="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sep</a:t>
                      </a:r>
                      <a:r>
                        <a:rPr lang="en-IN" sz="1500" b="1" u="sng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  <a:sym typeface="Wingdings" panose="05000000000000000000" pitchFamily="2" charset="2"/>
                        </a:rPr>
                        <a:t> 2026</a:t>
                      </a:r>
                      <a:endParaRPr lang="en-IN" dirty="0"/>
                    </a:p>
                  </a:txBody>
                  <a:tcPr marL="38597" marR="38597" marT="19724" marB="19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7BD79B7-7575-2A5C-D239-A3C9498E6C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24" y="1400371"/>
            <a:ext cx="2539443" cy="144546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DB1D9-D554-44DF-8FEA-4ED35A9A93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316" y="1400371"/>
            <a:ext cx="2664822" cy="144546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C1C729-C53D-8E40-A2D7-361E3DEBCE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24" y="2989943"/>
            <a:ext cx="2539443" cy="1563396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D9773B-8A89-5A44-818B-44E1DE5801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23" y="4697445"/>
            <a:ext cx="2539444" cy="164218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FC3F90-071D-977F-9E41-CD680BAC6BF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316" y="2973939"/>
            <a:ext cx="2664822" cy="1579400"/>
          </a:xfrm>
          <a:prstGeom prst="rect">
            <a:avLst/>
          </a:prstGeom>
          <a:noFill/>
        </p:spPr>
      </p:pic>
      <p:pic>
        <p:nvPicPr>
          <p:cNvPr id="13" name="WhatsApp Video 2026-09-07 at 2.12.46 AM">
            <a:hlinkClick r:id="" action="ppaction://media"/>
            <a:extLst>
              <a:ext uri="{FF2B5EF4-FFF2-40B4-BE49-F238E27FC236}">
                <a16:creationId xmlns:a16="http://schemas.microsoft.com/office/drawing/2014/main" id="{05515C8B-1E22-591D-9C4E-56AB36DB82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296316" y="4681440"/>
            <a:ext cx="2664822" cy="201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633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24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36F87-DC33-1464-60EC-2B0E3CDDC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857252"/>
            <a:ext cx="9144000" cy="697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9C864-E487-5F3E-97C3-FCA1C7BFAE87}"/>
              </a:ext>
            </a:extLst>
          </p:cNvPr>
          <p:cNvSpPr txBox="1"/>
          <p:nvPr/>
        </p:nvSpPr>
        <p:spPr>
          <a:xfrm>
            <a:off x="2427878" y="2921168"/>
            <a:ext cx="5314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</a:rPr>
              <a:t>         Thank You </a:t>
            </a:r>
          </a:p>
        </p:txBody>
      </p:sp>
    </p:spTree>
    <p:extLst>
      <p:ext uri="{BB962C8B-B14F-4D97-AF65-F5344CB8AC3E}">
        <p14:creationId xmlns:p14="http://schemas.microsoft.com/office/powerpoint/2010/main" val="257038510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_Continental Asia 16x9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24230</TotalTime>
  <Words>630</Words>
  <Application>Microsoft Office PowerPoint</Application>
  <PresentationFormat>Widescreen</PresentationFormat>
  <Paragraphs>91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3_Continental Asia 16x9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Devdip Purkayastha</dc:creator>
  <cp:lastModifiedBy>Kishore chandra Behera</cp:lastModifiedBy>
  <cp:revision>314</cp:revision>
  <dcterms:created xsi:type="dcterms:W3CDTF">2020-08-03T05:48:39Z</dcterms:created>
  <dcterms:modified xsi:type="dcterms:W3CDTF">2026-09-06T23:11:24Z</dcterms:modified>
</cp:coreProperties>
</file>